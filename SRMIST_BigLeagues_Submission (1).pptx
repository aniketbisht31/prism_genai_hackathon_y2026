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8" r:id="rId6"/>
    <p:sldId id="260" r:id="rId7"/>
    <p:sldId id="261" r:id="rId8"/>
    <p:sldId id="262" r:id="rId9"/>
    <p:sldId id="269" r:id="rId10"/>
    <p:sldId id="263" r:id="rId11"/>
    <p:sldId id="270" r:id="rId12"/>
    <p:sldId id="271" r:id="rId13"/>
    <p:sldId id="264" r:id="rId14"/>
    <p:sldId id="265" r:id="rId15"/>
    <p:sldId id="272" r:id="rId16"/>
    <p:sldId id="266" r:id="rId17"/>
    <p:sldId id="267"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gQuomGbdS/wh2yqkB/K4YAZ70Y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42" autoAdjust="0"/>
    <p:restoredTop sz="94660"/>
  </p:normalViewPr>
  <p:slideViewPr>
    <p:cSldViewPr snapToGrid="0">
      <p:cViewPr>
        <p:scale>
          <a:sx n="66" d="100"/>
          <a:sy n="66" d="100"/>
        </p:scale>
        <p:origin x="15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endParaRPr/>
          </a:p>
        </p:txBody>
      </p:sp>
      <p:sp>
        <p:nvSpPr>
          <p:cNvPr id="160" name="Google Shape;16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 name="Google Shape;2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23"/>
          <p:cNvSpPr>
            <a:spLocks noGrp="1"/>
          </p:cNvSpPr>
          <p:nvPr>
            <p:ph type="pic" idx="2"/>
          </p:nvPr>
        </p:nvSpPr>
        <p:spPr>
          <a:xfrm>
            <a:off x="5183188" y="987425"/>
            <a:ext cx="6172200" cy="4873625"/>
          </a:xfrm>
          <a:prstGeom prst="rect">
            <a:avLst/>
          </a:prstGeom>
          <a:noFill/>
          <a:ln>
            <a:noFill/>
          </a:ln>
        </p:spPr>
      </p:sp>
      <p:sp>
        <p:nvSpPr>
          <p:cNvPr id="69" name="Google Shape;69;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rive.google.com/file/d/1RryWacdLqB5szCqar0apQAq6f_hGNlxm/view?usp=sharin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slide" Target="slide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name="adj" fmla="val 50000"/>
            </a:avLst>
          </a:prstGeom>
          <a:solidFill>
            <a:srgbClr val="FFFFFF"/>
          </a:solidFill>
          <a:ln w="12700" cap="flat" cmpd="sng">
            <a:solidFill>
              <a:srgbClr val="D9D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77240" y="676656"/>
            <a:ext cx="24231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D28D9"/>
              </a:buClr>
              <a:buSzPts val="1100"/>
              <a:buFont typeface="Arial"/>
              <a:buNone/>
            </a:pPr>
            <a:r>
              <a:rPr lang="en-US" sz="1100" b="1" i="0" u="none" strike="noStrike" cap="none">
                <a:solidFill>
                  <a:srgbClr val="6D28D9"/>
                </a:solidFill>
                <a:latin typeface="Arial"/>
                <a:ea typeface="Arial"/>
                <a:cs typeface="Arial"/>
                <a:sym typeface="Arial"/>
              </a:rPr>
              <a:t>SAMSUNG PRISM</a:t>
            </a:r>
            <a:endParaRPr sz="1100" b="0" i="0" u="none" strike="noStrike" cap="non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5000"/>
              <a:buFont typeface="Arial"/>
              <a:buNone/>
            </a:pPr>
            <a:r>
              <a:rPr lang="en-US" sz="5000" b="1" i="0" u="none" strike="noStrike" cap="none">
                <a:solidFill>
                  <a:srgbClr val="14142B"/>
                </a:solidFill>
                <a:latin typeface="Arial"/>
                <a:ea typeface="Arial"/>
                <a:cs typeface="Arial"/>
                <a:sym typeface="Arial"/>
              </a:rPr>
              <a:t>Generative AI</a:t>
            </a:r>
            <a:endParaRPr sz="5000" b="0" i="0" u="none" strike="noStrike" cap="non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D28D9"/>
              </a:buClr>
              <a:buSzPts val="5000"/>
              <a:buFont typeface="Arial"/>
              <a:buNone/>
            </a:pPr>
            <a:r>
              <a:rPr lang="en-US" sz="5000" b="1" i="0" u="none" strike="noStrike" cap="none">
                <a:solidFill>
                  <a:srgbClr val="6D28D9"/>
                </a:solidFill>
                <a:latin typeface="Arial"/>
                <a:ea typeface="Arial"/>
                <a:cs typeface="Arial"/>
                <a:sym typeface="Arial"/>
              </a:rPr>
              <a:t>Hackathon</a:t>
            </a:r>
            <a:endParaRPr sz="5000" b="0" i="0" u="none" strike="noStrike" cap="non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2500"/>
              <a:buFont typeface="Arial"/>
              <a:buNone/>
            </a:pPr>
            <a:r>
              <a:rPr lang="en-US" sz="2500" b="1" i="0" u="none" strike="noStrike" cap="none">
                <a:solidFill>
                  <a:srgbClr val="14142B"/>
                </a:solidFill>
                <a:latin typeface="Arial"/>
                <a:ea typeface="Arial"/>
                <a:cs typeface="Arial"/>
                <a:sym typeface="Arial"/>
              </a:rPr>
              <a:t>3rd Edition</a:t>
            </a:r>
            <a:r>
              <a:rPr lang="en-US" sz="2000" b="0" i="0" u="none" strike="noStrike" cap="none">
                <a:solidFill>
                  <a:srgbClr val="63637E"/>
                </a:solidFill>
                <a:latin typeface="Calibri"/>
                <a:ea typeface="Calibri"/>
                <a:cs typeface="Calibri"/>
                <a:sym typeface="Calibri"/>
              </a:rPr>
              <a:t>   2026 – 27</a:t>
            </a:r>
            <a:endParaRPr sz="2500" b="0" i="0" u="none" strike="noStrike" cap="none">
              <a:solidFill>
                <a:schemeClr val="dk1"/>
              </a:solidFill>
              <a:latin typeface="Calibri"/>
              <a:ea typeface="Calibri"/>
              <a:cs typeface="Calibri"/>
              <a:sym typeface="Calibri"/>
            </a:endParaRPr>
          </a:p>
        </p:txBody>
      </p:sp>
      <p:sp>
        <p:nvSpPr>
          <p:cNvPr id="95" name="Google Shape;95;p1"/>
          <p:cNvSpPr txBox="1"/>
          <p:nvPr/>
        </p:nvSpPr>
        <p:spPr>
          <a:xfrm>
            <a:off x="777240" y="3310128"/>
            <a:ext cx="5852160" cy="77724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Theme ID - 4</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Team Name – Big Leagues</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College Name – SRM Institute of Science &amp; Technology</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1-  9205773552   ab3302@srmist.edu.in</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2- 8700072727    as4715@srmist.edu.in</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3- 8882728322     as3089@srmist.edu.in</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4-  8972182034     tt6331@srmist.edu.in</a:t>
            </a:r>
            <a:endParaRPr dirty="0"/>
          </a:p>
          <a:p>
            <a:pPr marL="177800" lvl="0" indent="-177800">
              <a:spcBef>
                <a:spcPts val="500"/>
              </a:spcBef>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Submission </a:t>
            </a:r>
            <a:r>
              <a:rPr lang="en-US" sz="1600" b="0" i="0" u="none" strike="noStrike" cap="none" dirty="0" err="1">
                <a:solidFill>
                  <a:srgbClr val="63637E"/>
                </a:solidFill>
                <a:latin typeface="Calibri"/>
                <a:ea typeface="Calibri"/>
                <a:cs typeface="Calibri"/>
                <a:sym typeface="Calibri"/>
              </a:rPr>
              <a:t>Github</a:t>
            </a:r>
            <a:r>
              <a:rPr lang="en-US" sz="1600" b="0" i="0" u="none" strike="noStrike" cap="none" dirty="0">
                <a:solidFill>
                  <a:srgbClr val="63637E"/>
                </a:solidFill>
                <a:latin typeface="Calibri"/>
                <a:ea typeface="Calibri"/>
                <a:cs typeface="Calibri"/>
                <a:sym typeface="Calibri"/>
              </a:rPr>
              <a:t> link - </a:t>
            </a:r>
            <a:r>
              <a:rPr lang="en-US" sz="1600" dirty="0">
                <a:solidFill>
                  <a:srgbClr val="63637E"/>
                </a:solidFill>
                <a:latin typeface="Calibri"/>
                <a:ea typeface="Calibri"/>
                <a:cs typeface="Calibri"/>
                <a:sym typeface="Calibri"/>
                <a:hlinkClick r:id="rId3" action="ppaction://hlinksldjump"/>
              </a:rPr>
              <a:t>https://github.com/Aniketbisht31/PRISM_GENAI_HACKATHON_Y2026</a:t>
            </a:r>
            <a:endParaRPr dirty="0"/>
          </a:p>
          <a:p>
            <a:pPr marL="177800" marR="0" lvl="0" indent="-76200" algn="l" rtl="0">
              <a:spcBef>
                <a:spcPts val="500"/>
              </a:spcBef>
              <a:spcAft>
                <a:spcPts val="0"/>
              </a:spcAft>
              <a:buClr>
                <a:schemeClr val="dk1"/>
              </a:buClr>
              <a:buSzPts val="1600"/>
              <a:buFont typeface="Calibri"/>
              <a:buNone/>
            </a:pPr>
            <a:endParaRPr sz="1600" b="0" i="0" u="none" strike="noStrike" cap="none" dirty="0">
              <a:solidFill>
                <a:srgbClr val="63637E"/>
              </a:solidFill>
              <a:latin typeface="Calibri"/>
              <a:ea typeface="Calibri"/>
              <a:cs typeface="Calibri"/>
              <a:sym typeface="Calibri"/>
            </a:endParaRPr>
          </a:p>
        </p:txBody>
      </p:sp>
      <p:pic>
        <p:nvPicPr>
          <p:cNvPr id="96" name="Google Shape;96;p1" descr="hero_network.png"/>
          <p:cNvPicPr preferRelativeResize="0"/>
          <p:nvPr/>
        </p:nvPicPr>
        <p:blipFill rotWithShape="1">
          <a:blip r:embed="rId4">
            <a:alphaModFix/>
          </a:blip>
          <a:srcRect/>
          <a:stretch/>
        </p:blipFill>
        <p:spPr>
          <a:xfrm>
            <a:off x="7059168" y="1051560"/>
            <a:ext cx="4572000" cy="457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407894" y="23065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dirty="0">
                <a:solidFill>
                  <a:srgbClr val="704EA6"/>
                </a:solidFill>
                <a:latin typeface="Calibri"/>
                <a:ea typeface="Calibri"/>
                <a:cs typeface="Calibri"/>
                <a:sym typeface="Calibri"/>
              </a:rPr>
              <a:t>Theme</a:t>
            </a:r>
            <a:endParaRPr dirty="0"/>
          </a:p>
        </p:txBody>
      </p:sp>
      <p:sp>
        <p:nvSpPr>
          <p:cNvPr id="102" name="Google Shape;102;p2"/>
          <p:cNvSpPr txBox="1">
            <a:spLocks noGrp="1"/>
          </p:cNvSpPr>
          <p:nvPr>
            <p:ph type="body" idx="1"/>
          </p:nvPr>
        </p:nvSpPr>
        <p:spPr>
          <a:xfrm>
            <a:off x="209550" y="1252631"/>
            <a:ext cx="11772900" cy="5605369"/>
          </a:xfrm>
          <a:prstGeom prst="rect">
            <a:avLst/>
          </a:prstGeom>
          <a:noFill/>
          <a:ln>
            <a:noFill/>
          </a:ln>
        </p:spPr>
        <p:txBody>
          <a:bodyPr spcFirstLastPara="1" wrap="square" lIns="91425" tIns="45700" rIns="91425" bIns="45700" anchor="t" anchorCtr="0">
            <a:normAutofit/>
          </a:bodyPr>
          <a:lstStyle/>
          <a:p>
            <a:pPr marL="114300" indent="0">
              <a:buNone/>
            </a:pPr>
            <a:r>
              <a:rPr lang="en-US" sz="3600" b="1" dirty="0"/>
              <a:t>   Theme 04: Streaming Live RAG</a:t>
            </a:r>
            <a:endParaRPr lang="en-US" sz="3600" dirty="0"/>
          </a:p>
          <a:p>
            <a:r>
              <a:rPr lang="en-US" sz="3600" b="1" dirty="0"/>
              <a:t>Real-time answers from live speech, grounded in the corpus.</a:t>
            </a:r>
            <a:r>
              <a:rPr lang="en-US" sz="3600" dirty="0"/>
              <a:t> </a:t>
            </a:r>
          </a:p>
          <a:p>
            <a:r>
              <a:rPr lang="en-US" sz="3600" dirty="0"/>
              <a:t>Our engine starts searching before the user finishes speaking, splits one natural request into the questions it actually contains, updates the answer in place when new details arrive, and cites every claim.</a:t>
            </a:r>
          </a:p>
          <a:p>
            <a:pPr marL="228600" lvl="0" indent="-50800" algn="l" rtl="0">
              <a:lnSpc>
                <a:spcPct val="90000"/>
              </a:lnSpc>
              <a:spcBef>
                <a:spcPts val="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246380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dirty="0">
                <a:solidFill>
                  <a:srgbClr val="704EA6"/>
                </a:solidFill>
                <a:latin typeface="Calibri"/>
                <a:ea typeface="Calibri"/>
                <a:cs typeface="Calibri"/>
                <a:sym typeface="Calibri"/>
              </a:rPr>
              <a:t>Existing Solutions &amp; Gaps</a:t>
            </a:r>
            <a:endParaRPr dirty="0"/>
          </a:p>
        </p:txBody>
      </p:sp>
      <p:graphicFrame>
        <p:nvGraphicFramePr>
          <p:cNvPr id="2" name="Table 1">
            <a:extLst>
              <a:ext uri="{FF2B5EF4-FFF2-40B4-BE49-F238E27FC236}">
                <a16:creationId xmlns:a16="http://schemas.microsoft.com/office/drawing/2014/main" id="{F1ECB433-66AE-F894-A70B-307AAD726A24}"/>
              </a:ext>
            </a:extLst>
          </p:cNvPr>
          <p:cNvGraphicFramePr>
            <a:graphicFrameLocks noGrp="1"/>
          </p:cNvGraphicFramePr>
          <p:nvPr>
            <p:extLst>
              <p:ext uri="{D42A27DB-BD31-4B8C-83A1-F6EECF244321}">
                <p14:modId xmlns:p14="http://schemas.microsoft.com/office/powerpoint/2010/main" val="882695494"/>
              </p:ext>
            </p:extLst>
          </p:nvPr>
        </p:nvGraphicFramePr>
        <p:xfrm>
          <a:off x="275772" y="1114424"/>
          <a:ext cx="11640456" cy="5417003"/>
        </p:xfrm>
        <a:graphic>
          <a:graphicData uri="http://schemas.openxmlformats.org/drawingml/2006/table">
            <a:tbl>
              <a:tblPr>
                <a:tableStyleId>{5C22544A-7EE6-4342-B048-85BDC9FD1C3A}</a:tableStyleId>
              </a:tblPr>
              <a:tblGrid>
                <a:gridCol w="2910114">
                  <a:extLst>
                    <a:ext uri="{9D8B030D-6E8A-4147-A177-3AD203B41FA5}">
                      <a16:colId xmlns:a16="http://schemas.microsoft.com/office/drawing/2014/main" val="1696923704"/>
                    </a:ext>
                  </a:extLst>
                </a:gridCol>
                <a:gridCol w="2910114">
                  <a:extLst>
                    <a:ext uri="{9D8B030D-6E8A-4147-A177-3AD203B41FA5}">
                      <a16:colId xmlns:a16="http://schemas.microsoft.com/office/drawing/2014/main" val="3715040047"/>
                    </a:ext>
                  </a:extLst>
                </a:gridCol>
                <a:gridCol w="2910114">
                  <a:extLst>
                    <a:ext uri="{9D8B030D-6E8A-4147-A177-3AD203B41FA5}">
                      <a16:colId xmlns:a16="http://schemas.microsoft.com/office/drawing/2014/main" val="3594068044"/>
                    </a:ext>
                  </a:extLst>
                </a:gridCol>
                <a:gridCol w="2910114">
                  <a:extLst>
                    <a:ext uri="{9D8B030D-6E8A-4147-A177-3AD203B41FA5}">
                      <a16:colId xmlns:a16="http://schemas.microsoft.com/office/drawing/2014/main" val="880158347"/>
                    </a:ext>
                  </a:extLst>
                </a:gridCol>
              </a:tblGrid>
              <a:tr h="321954">
                <a:tc>
                  <a:txBody>
                    <a:bodyPr/>
                    <a:lstStyle/>
                    <a:p>
                      <a:pPr>
                        <a:buNone/>
                      </a:pPr>
                      <a:r>
                        <a:rPr lang="en-US" sz="1200"/>
                        <a:t>Existing approach</a:t>
                      </a:r>
                    </a:p>
                  </a:txBody>
                  <a:tcPr marL="77702" marR="77702" marT="38851" marB="38851" anchor="ctr"/>
                </a:tc>
                <a:tc>
                  <a:txBody>
                    <a:bodyPr/>
                    <a:lstStyle/>
                    <a:p>
                      <a:pPr>
                        <a:buNone/>
                      </a:pPr>
                      <a:r>
                        <a:rPr lang="en-US" sz="1200"/>
                        <a:t>What it does well</a:t>
                      </a:r>
                    </a:p>
                  </a:txBody>
                  <a:tcPr marL="77702" marR="77702" marT="38851" marB="38851" anchor="ctr"/>
                </a:tc>
                <a:tc>
                  <a:txBody>
                    <a:bodyPr/>
                    <a:lstStyle/>
                    <a:p>
                      <a:pPr>
                        <a:buNone/>
                      </a:pPr>
                      <a:r>
                        <a:rPr lang="en-US" sz="1200"/>
                        <a:t>Gap</a:t>
                      </a:r>
                    </a:p>
                  </a:txBody>
                  <a:tcPr marL="77702" marR="77702" marT="38851" marB="38851" anchor="ctr"/>
                </a:tc>
                <a:tc>
                  <a:txBody>
                    <a:bodyPr/>
                    <a:lstStyle/>
                    <a:p>
                      <a:pPr>
                        <a:buNone/>
                      </a:pPr>
                      <a:r>
                        <a:rPr lang="en-US" sz="1200"/>
                        <a:t>How we close it</a:t>
                      </a:r>
                    </a:p>
                  </a:txBody>
                  <a:tcPr marL="77702" marR="77702" marT="38851" marB="38851" anchor="ctr"/>
                </a:tc>
                <a:extLst>
                  <a:ext uri="{0D108BD9-81ED-4DB2-BD59-A6C34878D82A}">
                    <a16:rowId xmlns:a16="http://schemas.microsoft.com/office/drawing/2014/main" val="227200263"/>
                  </a:ext>
                </a:extLst>
              </a:tr>
              <a:tr h="999809">
                <a:tc>
                  <a:txBody>
                    <a:bodyPr/>
                    <a:lstStyle/>
                    <a:p>
                      <a:pPr>
                        <a:buNone/>
                      </a:pPr>
                      <a:r>
                        <a:rPr lang="en-US" sz="1200" dirty="0"/>
                        <a:t>Batch RAG</a:t>
                      </a:r>
                    </a:p>
                  </a:txBody>
                  <a:tcPr marL="77702" marR="77702" marT="38851" marB="38851" anchor="ctr"/>
                </a:tc>
                <a:tc>
                  <a:txBody>
                    <a:bodyPr/>
                    <a:lstStyle/>
                    <a:p>
                      <a:pPr>
                        <a:buNone/>
                      </a:pPr>
                      <a:r>
                        <a:rPr lang="en-US" sz="1200"/>
                        <a:t>Simple, reliable retrieval after the user finishes</a:t>
                      </a:r>
                    </a:p>
                  </a:txBody>
                  <a:tcPr marL="77702" marR="77702" marT="38851" marB="38851" anchor="ctr"/>
                </a:tc>
                <a:tc>
                  <a:txBody>
                    <a:bodyPr/>
                    <a:lstStyle/>
                    <a:p>
                      <a:pPr>
                        <a:buNone/>
                      </a:pPr>
                      <a:r>
                        <a:rPr lang="en-US" sz="1200"/>
                        <a:t>Waits for the full utterance; one query per turn</a:t>
                      </a:r>
                    </a:p>
                  </a:txBody>
                  <a:tcPr marL="77702" marR="77702" marT="38851" marB="38851" anchor="ctr"/>
                </a:tc>
                <a:tc>
                  <a:txBody>
                    <a:bodyPr/>
                    <a:lstStyle/>
                    <a:p>
                      <a:pPr>
                        <a:buNone/>
                      </a:pPr>
                      <a:r>
                        <a:rPr lang="en-US" sz="1200" dirty="0"/>
                        <a:t>Controller decides WAIT / RETRIEVE / NO_RETRIEVAL on every chunk, so search starts mid-sentence</a:t>
                      </a:r>
                    </a:p>
                  </a:txBody>
                  <a:tcPr marL="77702" marR="77702" marT="38851" marB="38851" anchor="ctr"/>
                </a:tc>
                <a:extLst>
                  <a:ext uri="{0D108BD9-81ED-4DB2-BD59-A6C34878D82A}">
                    <a16:rowId xmlns:a16="http://schemas.microsoft.com/office/drawing/2014/main" val="925468818"/>
                  </a:ext>
                </a:extLst>
              </a:tr>
              <a:tr h="773858">
                <a:tc>
                  <a:txBody>
                    <a:bodyPr/>
                    <a:lstStyle/>
                    <a:p>
                      <a:pPr>
                        <a:buNone/>
                      </a:pPr>
                      <a:r>
                        <a:rPr lang="en-US" sz="1200" dirty="0"/>
                        <a:t>Multi-query / query-rewriting RAG</a:t>
                      </a:r>
                    </a:p>
                  </a:txBody>
                  <a:tcPr marL="77702" marR="77702" marT="38851" marB="38851" anchor="ctr"/>
                </a:tc>
                <a:tc>
                  <a:txBody>
                    <a:bodyPr/>
                    <a:lstStyle/>
                    <a:p>
                      <a:pPr>
                        <a:buNone/>
                      </a:pPr>
                      <a:r>
                        <a:rPr lang="en-US" sz="1200" dirty="0"/>
                        <a:t>Better recall on complex questions</a:t>
                      </a:r>
                    </a:p>
                  </a:txBody>
                  <a:tcPr marL="77702" marR="77702" marT="38851" marB="38851" anchor="ctr"/>
                </a:tc>
                <a:tc>
                  <a:txBody>
                    <a:bodyPr/>
                    <a:lstStyle/>
                    <a:p>
                      <a:pPr>
                        <a:buNone/>
                      </a:pPr>
                      <a:r>
                        <a:rPr lang="en-US" sz="1200"/>
                        <a:t>Runs after the utterance ends; rewrites from scratch each turn</a:t>
                      </a:r>
                    </a:p>
                  </a:txBody>
                  <a:tcPr marL="77702" marR="77702" marT="38851" marB="38851" anchor="ctr"/>
                </a:tc>
                <a:tc>
                  <a:txBody>
                    <a:bodyPr/>
                    <a:lstStyle/>
                    <a:p>
                      <a:pPr>
                        <a:buNone/>
                      </a:pPr>
                      <a:r>
                        <a:rPr lang="en-US" sz="1200"/>
                        <a:t>Decomposes into up to 4 sub-queries in parallel while the user is still speaking</a:t>
                      </a:r>
                    </a:p>
                  </a:txBody>
                  <a:tcPr marL="77702" marR="77702" marT="38851" marB="38851" anchor="ctr"/>
                </a:tc>
                <a:extLst>
                  <a:ext uri="{0D108BD9-81ED-4DB2-BD59-A6C34878D82A}">
                    <a16:rowId xmlns:a16="http://schemas.microsoft.com/office/drawing/2014/main" val="2752628766"/>
                  </a:ext>
                </a:extLst>
              </a:tr>
              <a:tr h="547906">
                <a:tc>
                  <a:txBody>
                    <a:bodyPr/>
                    <a:lstStyle/>
                    <a:p>
                      <a:pPr>
                        <a:buNone/>
                      </a:pPr>
                      <a:r>
                        <a:rPr lang="en-US" sz="1200"/>
                        <a:t>Per-token or per-chunk retrieval</a:t>
                      </a:r>
                    </a:p>
                  </a:txBody>
                  <a:tcPr marL="77702" marR="77702" marT="38851" marB="38851" anchor="ctr"/>
                </a:tc>
                <a:tc>
                  <a:txBody>
                    <a:bodyPr/>
                    <a:lstStyle/>
                    <a:p>
                      <a:pPr>
                        <a:buNone/>
                      </a:pPr>
                      <a:r>
                        <a:rPr lang="en-US" sz="1200"/>
                        <a:t>Low latency</a:t>
                      </a:r>
                    </a:p>
                  </a:txBody>
                  <a:tcPr marL="77702" marR="77702" marT="38851" marB="38851" anchor="ctr"/>
                </a:tc>
                <a:tc>
                  <a:txBody>
                    <a:bodyPr/>
                    <a:lstStyle/>
                    <a:p>
                      <a:pPr>
                        <a:buNone/>
                      </a:pPr>
                      <a:r>
                        <a:rPr lang="en-US" sz="1200"/>
                        <a:t>Fires on incomplete thoughts, so it adds noise and cost</a:t>
                      </a:r>
                    </a:p>
                  </a:txBody>
                  <a:tcPr marL="77702" marR="77702" marT="38851" marB="38851" anchor="ctr"/>
                </a:tc>
                <a:tc>
                  <a:txBody>
                    <a:bodyPr/>
                    <a:lstStyle/>
                    <a:p>
                      <a:pPr>
                        <a:buNone/>
                      </a:pPr>
                      <a:r>
                        <a:rPr lang="en-US" sz="1200"/>
                        <a:t>Retrieves only once the intent is stable, not on every token</a:t>
                      </a:r>
                    </a:p>
                  </a:txBody>
                  <a:tcPr marL="77702" marR="77702" marT="38851" marB="38851" anchor="ctr"/>
                </a:tc>
                <a:extLst>
                  <a:ext uri="{0D108BD9-81ED-4DB2-BD59-A6C34878D82A}">
                    <a16:rowId xmlns:a16="http://schemas.microsoft.com/office/drawing/2014/main" val="4009098392"/>
                  </a:ext>
                </a:extLst>
              </a:tr>
              <a:tr h="999809">
                <a:tc>
                  <a:txBody>
                    <a:bodyPr/>
                    <a:lstStyle/>
                    <a:p>
                      <a:pPr>
                        <a:buNone/>
                      </a:pPr>
                      <a:r>
                        <a:rPr lang="en-US" sz="1200"/>
                        <a:t>Chat memory plus re-retrieval</a:t>
                      </a:r>
                    </a:p>
                  </a:txBody>
                  <a:tcPr marL="77702" marR="77702" marT="38851" marB="38851" anchor="ctr"/>
                </a:tc>
                <a:tc>
                  <a:txBody>
                    <a:bodyPr/>
                    <a:lstStyle/>
                    <a:p>
                      <a:pPr>
                        <a:buNone/>
                      </a:pPr>
                      <a:r>
                        <a:rPr lang="en-US" sz="1200"/>
                        <a:t>Keeps conversational context</a:t>
                      </a:r>
                    </a:p>
                  </a:txBody>
                  <a:tcPr marL="77702" marR="77702" marT="38851" marB="38851" anchor="ctr"/>
                </a:tc>
                <a:tc>
                  <a:txBody>
                    <a:bodyPr/>
                    <a:lstStyle/>
                    <a:p>
                      <a:pPr>
                        <a:buNone/>
                      </a:pPr>
                      <a:r>
                        <a:rPr lang="en-US" sz="1200"/>
                        <a:t>A late detail often triggers a full re-search</a:t>
                      </a:r>
                    </a:p>
                  </a:txBody>
                  <a:tcPr marL="77702" marR="77702" marT="38851" marB="38851" anchor="ctr"/>
                </a:tc>
                <a:tc>
                  <a:txBody>
                    <a:bodyPr/>
                    <a:lstStyle/>
                    <a:p>
                      <a:pPr>
                        <a:buNone/>
                      </a:pPr>
                      <a:r>
                        <a:rPr lang="en-US" sz="1200" dirty="0"/>
                        <a:t>Delta retrieval updates the existing answer and bumps its version, keeping earlier citations</a:t>
                      </a:r>
                    </a:p>
                  </a:txBody>
                  <a:tcPr marL="77702" marR="77702" marT="38851" marB="38851" anchor="ctr"/>
                </a:tc>
                <a:extLst>
                  <a:ext uri="{0D108BD9-81ED-4DB2-BD59-A6C34878D82A}">
                    <a16:rowId xmlns:a16="http://schemas.microsoft.com/office/drawing/2014/main" val="1524278047"/>
                  </a:ext>
                </a:extLst>
              </a:tr>
              <a:tr h="999809">
                <a:tc>
                  <a:txBody>
                    <a:bodyPr/>
                    <a:lstStyle/>
                    <a:p>
                      <a:pPr>
                        <a:buNone/>
                      </a:pPr>
                      <a:r>
                        <a:rPr lang="en-US" sz="1200"/>
                        <a:t>LLM answers with citations</a:t>
                      </a:r>
                    </a:p>
                  </a:txBody>
                  <a:tcPr marL="77702" marR="77702" marT="38851" marB="38851" anchor="ctr"/>
                </a:tc>
                <a:tc>
                  <a:txBody>
                    <a:bodyPr/>
                    <a:lstStyle/>
                    <a:p>
                      <a:pPr>
                        <a:buNone/>
                      </a:pPr>
                      <a:r>
                        <a:rPr lang="en-US" sz="1200"/>
                        <a:t>Readable, sourced-looking output</a:t>
                      </a:r>
                    </a:p>
                  </a:txBody>
                  <a:tcPr marL="77702" marR="77702" marT="38851" marB="38851" anchor="ctr"/>
                </a:tc>
                <a:tc>
                  <a:txBody>
                    <a:bodyPr/>
                    <a:lstStyle/>
                    <a:p>
                      <a:pPr>
                        <a:buNone/>
                      </a:pPr>
                      <a:r>
                        <a:rPr lang="en-US" sz="1200"/>
                        <a:t>Citations can be fabricated or not actually supported</a:t>
                      </a:r>
                    </a:p>
                  </a:txBody>
                  <a:tcPr marL="77702" marR="77702" marT="38851" marB="38851" anchor="ctr"/>
                </a:tc>
                <a:tc>
                  <a:txBody>
                    <a:bodyPr/>
                    <a:lstStyle/>
                    <a:p>
                      <a:pPr>
                        <a:buNone/>
                      </a:pPr>
                      <a:r>
                        <a:rPr lang="en-US" sz="1200"/>
                        <a:t>Each sentence needs an exact source excerpt, otherwise it is removed or flagged as uncertain</a:t>
                      </a:r>
                    </a:p>
                  </a:txBody>
                  <a:tcPr marL="77702" marR="77702" marT="38851" marB="38851" anchor="ctr"/>
                </a:tc>
                <a:extLst>
                  <a:ext uri="{0D108BD9-81ED-4DB2-BD59-A6C34878D82A}">
                    <a16:rowId xmlns:a16="http://schemas.microsoft.com/office/drawing/2014/main" val="2345510739"/>
                  </a:ext>
                </a:extLst>
              </a:tr>
              <a:tr h="773858">
                <a:tc>
                  <a:txBody>
                    <a:bodyPr/>
                    <a:lstStyle/>
                    <a:p>
                      <a:pPr>
                        <a:buNone/>
                      </a:pPr>
                      <a:r>
                        <a:rPr lang="en-US" sz="1200" dirty="0"/>
                        <a:t>Agent-framework orchestration</a:t>
                      </a:r>
                    </a:p>
                  </a:txBody>
                  <a:tcPr marL="77702" marR="77702" marT="38851" marB="38851" anchor="ctr"/>
                </a:tc>
                <a:tc>
                  <a:txBody>
                    <a:bodyPr/>
                    <a:lstStyle/>
                    <a:p>
                      <a:pPr>
                        <a:buNone/>
                      </a:pPr>
                      <a:r>
                        <a:rPr lang="en-US" sz="1200"/>
                        <a:t>Flexible</a:t>
                      </a:r>
                    </a:p>
                  </a:txBody>
                  <a:tcPr marL="77702" marR="77702" marT="38851" marB="38851" anchor="ctr"/>
                </a:tc>
                <a:tc>
                  <a:txBody>
                    <a:bodyPr/>
                    <a:lstStyle/>
                    <a:p>
                      <a:pPr>
                        <a:buNone/>
                      </a:pPr>
                      <a:r>
                        <a:rPr lang="en-US" sz="1200"/>
                        <a:t>Heavy and slow, with hard-to-justify overhead</a:t>
                      </a:r>
                    </a:p>
                  </a:txBody>
                  <a:tcPr marL="77702" marR="77702" marT="38851" marB="38851" anchor="ctr"/>
                </a:tc>
                <a:tc>
                  <a:txBody>
                    <a:bodyPr/>
                    <a:lstStyle/>
                    <a:p>
                      <a:pPr>
                        <a:buNone/>
                      </a:pPr>
                      <a:r>
                        <a:rPr lang="en-US" sz="1200" dirty="0"/>
                        <a:t>Plain </a:t>
                      </a:r>
                      <a:r>
                        <a:rPr lang="en-US" sz="1200" dirty="0" err="1"/>
                        <a:t>FastAPI</a:t>
                      </a:r>
                      <a:r>
                        <a:rPr lang="en-US" sz="1200" dirty="0"/>
                        <a:t> pipeline, local embeddings, cost and latency traced per turn</a:t>
                      </a:r>
                    </a:p>
                  </a:txBody>
                  <a:tcPr marL="77702" marR="77702" marT="38851" marB="38851" anchor="ctr"/>
                </a:tc>
                <a:extLst>
                  <a:ext uri="{0D108BD9-81ED-4DB2-BD59-A6C34878D82A}">
                    <a16:rowId xmlns:a16="http://schemas.microsoft.com/office/drawing/2014/main" val="321343059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838200" y="208456"/>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dirty="0">
                <a:solidFill>
                  <a:srgbClr val="704EA6"/>
                </a:solidFill>
                <a:latin typeface="Calibri"/>
                <a:ea typeface="Calibri"/>
                <a:cs typeface="Calibri"/>
                <a:sym typeface="Calibri"/>
              </a:rPr>
              <a:t>Our Solutions &amp; Architecture Diagram</a:t>
            </a:r>
            <a:endParaRPr dirty="0"/>
          </a:p>
        </p:txBody>
      </p:sp>
      <p:sp>
        <p:nvSpPr>
          <p:cNvPr id="114" name="Google Shape;114;p4"/>
          <p:cNvSpPr txBox="1">
            <a:spLocks noGrp="1"/>
          </p:cNvSpPr>
          <p:nvPr>
            <p:ph type="body" idx="1"/>
          </p:nvPr>
        </p:nvSpPr>
        <p:spPr>
          <a:xfrm>
            <a:off x="475343" y="1534019"/>
            <a:ext cx="10515600" cy="4351338"/>
          </a:xfrm>
          <a:prstGeom prst="rect">
            <a:avLst/>
          </a:prstGeom>
          <a:noFill/>
          <a:ln>
            <a:noFill/>
          </a:ln>
        </p:spPr>
        <p:txBody>
          <a:bodyPr spcFirstLastPara="1" wrap="square" lIns="91425" tIns="45700" rIns="91425" bIns="45700" anchor="t" anchorCtr="0">
            <a:normAutofit fontScale="85000" lnSpcReduction="20000"/>
          </a:bodyPr>
          <a:lstStyle/>
          <a:p>
            <a:pPr marL="114300" indent="0">
              <a:buNone/>
            </a:pPr>
            <a:r>
              <a:rPr lang="en-US" sz="3300" b="1" dirty="0"/>
              <a:t>Our solution:</a:t>
            </a:r>
            <a:r>
              <a:rPr lang="en-US" sz="3300" dirty="0"/>
              <a:t> a four-stage streaming pipeline that decides when to search, what to search for, and what it can prove.</a:t>
            </a:r>
          </a:p>
          <a:p>
            <a:pPr marL="114300" indent="0">
              <a:buNone/>
            </a:pPr>
            <a:endParaRPr lang="en-US" dirty="0"/>
          </a:p>
          <a:p>
            <a:pPr lvl="0"/>
            <a:r>
              <a:rPr lang="en-US" b="1" dirty="0"/>
              <a:t>Controller:</a:t>
            </a:r>
            <a:r>
              <a:rPr lang="en-US" dirty="0"/>
              <a:t> after every transcript chunk, it chooses WAIT, RETRIEVE or NO_RETRIEVAL, so search starts mid-sentence only once the intent is stable.</a:t>
            </a:r>
          </a:p>
          <a:p>
            <a:pPr lvl="0"/>
            <a:r>
              <a:rPr lang="en-US" b="1" dirty="0"/>
              <a:t>Decomposer:</a:t>
            </a:r>
            <a:r>
              <a:rPr lang="en-US" dirty="0"/>
              <a:t> splits one natural request into up to 4 sub-queries and searches them in parallel.</a:t>
            </a:r>
          </a:p>
          <a:p>
            <a:pPr lvl="0"/>
            <a:r>
              <a:rPr lang="en-US" b="1" dirty="0"/>
              <a:t>Hybrid retrieval:</a:t>
            </a:r>
            <a:r>
              <a:rPr lang="en-US" dirty="0"/>
              <a:t> combines dense (</a:t>
            </a:r>
            <a:r>
              <a:rPr lang="en-US" dirty="0" err="1"/>
              <a:t>ChromaDB</a:t>
            </a:r>
            <a:r>
              <a:rPr lang="en-US" dirty="0"/>
              <a:t>) and BM25 results with rank fusion and removes duplicate sections, all from the supplied corpus.</a:t>
            </a:r>
          </a:p>
          <a:p>
            <a:pPr lvl="0"/>
            <a:r>
              <a:rPr lang="en-US" b="1" dirty="0"/>
              <a:t>Grounded synthesis:</a:t>
            </a:r>
            <a:r>
              <a:rPr lang="en-US" dirty="0"/>
              <a:t> every sentence must carry a [</a:t>
            </a:r>
            <a:r>
              <a:rPr lang="en-US" dirty="0" err="1"/>
              <a:t>Doc_ID</a:t>
            </a:r>
            <a:r>
              <a:rPr lang="en-US" dirty="0"/>
              <a:t> §Section] citation backed by an exact source excerpt, otherwise it is removed or flagged as uncertain.</a:t>
            </a:r>
          </a:p>
          <a:p>
            <a:pPr marL="228600" lvl="0" indent="-50800" algn="l" rtl="0">
              <a:lnSpc>
                <a:spcPct val="90000"/>
              </a:lnSpc>
              <a:spcBef>
                <a:spcPts val="0"/>
              </a:spcBef>
              <a:spcAft>
                <a:spcPts val="0"/>
              </a:spcAft>
              <a:buClr>
                <a:schemeClr val="dk1"/>
              </a:buClr>
              <a:buSzPts val="280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B195B-154D-49B2-2124-8BFC14739053}"/>
              </a:ext>
            </a:extLst>
          </p:cNvPr>
          <p:cNvSpPr>
            <a:spLocks noGrp="1"/>
          </p:cNvSpPr>
          <p:nvPr>
            <p:ph type="title"/>
          </p:nvPr>
        </p:nvSpPr>
        <p:spPr>
          <a:xfrm>
            <a:off x="471715" y="0"/>
            <a:ext cx="8712200" cy="1115333"/>
          </a:xfrm>
        </p:spPr>
        <p:txBody>
          <a:bodyPr>
            <a:normAutofit/>
          </a:bodyPr>
          <a:lstStyle/>
          <a:p>
            <a:r>
              <a:rPr lang="en-US" sz="2800" b="1" dirty="0">
                <a:solidFill>
                  <a:srgbClr val="704EA6"/>
                </a:solidFill>
              </a:rPr>
              <a:t>Architecture Diagram</a:t>
            </a:r>
            <a:endParaRPr lang="en-US" sz="2800" dirty="0"/>
          </a:p>
        </p:txBody>
      </p:sp>
      <p:pic>
        <p:nvPicPr>
          <p:cNvPr id="4" name="Picture 3">
            <a:extLst>
              <a:ext uri="{FF2B5EF4-FFF2-40B4-BE49-F238E27FC236}">
                <a16:creationId xmlns:a16="http://schemas.microsoft.com/office/drawing/2014/main" id="{DA40041E-85E5-C495-72C5-2790AEADC67D}"/>
              </a:ext>
            </a:extLst>
          </p:cNvPr>
          <p:cNvPicPr>
            <a:picLocks noChangeAspect="1"/>
          </p:cNvPicPr>
          <p:nvPr/>
        </p:nvPicPr>
        <p:blipFill>
          <a:blip r:embed="rId2"/>
          <a:stretch>
            <a:fillRect/>
          </a:stretch>
        </p:blipFill>
        <p:spPr>
          <a:xfrm>
            <a:off x="210456" y="1062520"/>
            <a:ext cx="11509829" cy="5179423"/>
          </a:xfrm>
          <a:prstGeom prst="rect">
            <a:avLst/>
          </a:prstGeom>
        </p:spPr>
      </p:pic>
    </p:spTree>
    <p:extLst>
      <p:ext uri="{BB962C8B-B14F-4D97-AF65-F5344CB8AC3E}">
        <p14:creationId xmlns:p14="http://schemas.microsoft.com/office/powerpoint/2010/main" val="3602484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838200" y="-3379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dirty="0">
                <a:solidFill>
                  <a:srgbClr val="704EA6"/>
                </a:solidFill>
                <a:latin typeface="Calibri"/>
                <a:ea typeface="Calibri"/>
                <a:cs typeface="Calibri"/>
                <a:sym typeface="Calibri"/>
              </a:rPr>
              <a:t>Demo &amp; Product Walkthrough</a:t>
            </a:r>
            <a:endParaRPr dirty="0"/>
          </a:p>
        </p:txBody>
      </p:sp>
      <p:sp>
        <p:nvSpPr>
          <p:cNvPr id="120" name="Google Shape;120;p5"/>
          <p:cNvSpPr txBox="1">
            <a:spLocks noGrp="1"/>
          </p:cNvSpPr>
          <p:nvPr>
            <p:ph type="body" idx="1"/>
          </p:nvPr>
        </p:nvSpPr>
        <p:spPr>
          <a:xfrm>
            <a:off x="290286" y="986971"/>
            <a:ext cx="11063514" cy="5189992"/>
          </a:xfrm>
          <a:prstGeom prst="rect">
            <a:avLst/>
          </a:prstGeom>
          <a:noFill/>
          <a:ln>
            <a:noFill/>
          </a:ln>
        </p:spPr>
        <p:txBody>
          <a:bodyPr spcFirstLastPara="1" wrap="square" lIns="91425" tIns="45700" rIns="91425" bIns="45700" anchor="t" anchorCtr="0">
            <a:normAutofit fontScale="85000" lnSpcReduction="20000"/>
          </a:bodyPr>
          <a:lstStyle/>
          <a:p>
            <a:r>
              <a:rPr lang="en-US" b="1" dirty="0"/>
              <a:t>One conversation, six proof points (video:- </a:t>
            </a:r>
            <a:r>
              <a:rPr lang="en-US" b="1" dirty="0">
                <a:hlinkClick r:id="rId3"/>
              </a:rPr>
              <a:t>https://drive.google.com/file/d/1RryWacdLqB5szCqar0apQAq6f_hGNlxm/view?usp=sharing</a:t>
            </a:r>
            <a:r>
              <a:rPr lang="en-US" b="1" dirty="0"/>
              <a:t>)</a:t>
            </a:r>
            <a:endParaRPr lang="en-US" dirty="0"/>
          </a:p>
          <a:p>
            <a:pPr lvl="0"/>
            <a:r>
              <a:rPr lang="en-US" b="1" dirty="0"/>
              <a:t>Early retrieval:</a:t>
            </a:r>
            <a:r>
              <a:rPr lang="en-US" dirty="0"/>
              <a:t> transcript chunks stream in over WebSocket, and search starts before the user finishes speaking.</a:t>
            </a:r>
          </a:p>
          <a:p>
            <a:pPr lvl="0"/>
            <a:r>
              <a:rPr lang="en-US" b="1" dirty="0"/>
              <a:t>Multi-intent split:</a:t>
            </a:r>
            <a:r>
              <a:rPr lang="en-US" dirty="0"/>
              <a:t> one request becomes separate sub-queries, searched in parallel.</a:t>
            </a:r>
          </a:p>
          <a:p>
            <a:pPr lvl="0"/>
            <a:r>
              <a:rPr lang="en-US" b="1" dirty="0"/>
              <a:t>Refine, never restart:</a:t>
            </a:r>
            <a:r>
              <a:rPr lang="en-US" dirty="0"/>
              <a:t> a late detail updates the answer to version 2, with earlier citations kept.</a:t>
            </a:r>
          </a:p>
          <a:p>
            <a:pPr lvl="0"/>
            <a:r>
              <a:rPr lang="en-US" b="1" dirty="0"/>
              <a:t>Skip the search:</a:t>
            </a:r>
            <a:r>
              <a:rPr lang="en-US" dirty="0"/>
              <a:t> "make that shorter" reuses the verified answer with zero corpus queries.</a:t>
            </a:r>
          </a:p>
          <a:p>
            <a:pPr lvl="0"/>
            <a:r>
              <a:rPr lang="en-US" b="1" dirty="0"/>
              <a:t>Citations and uncertainty:</a:t>
            </a:r>
            <a:r>
              <a:rPr lang="en-US" dirty="0"/>
              <a:t> each claim traces to a [</a:t>
            </a:r>
            <a:r>
              <a:rPr lang="en-US" dirty="0" err="1"/>
              <a:t>Doc_ID</a:t>
            </a:r>
            <a:r>
              <a:rPr lang="en-US" dirty="0"/>
              <a:t> §Section] source, and a question the corpus can't answer gets an uncertainty flag instead of a guess.</a:t>
            </a:r>
          </a:p>
          <a:p>
            <a:pPr lvl="0"/>
            <a:r>
              <a:rPr lang="en-US" b="1" dirty="0"/>
              <a:t>Live telemetry:</a:t>
            </a:r>
            <a:r>
              <a:rPr lang="en-US" dirty="0"/>
              <a:t> trace IDs, per-stage timings and token cost for every turn.</a:t>
            </a:r>
          </a:p>
          <a:p>
            <a:r>
              <a:rPr lang="en-US" dirty="0"/>
              <a:t>Repo: [</a:t>
            </a:r>
            <a:r>
              <a:rPr lang="en-US" dirty="0">
                <a:hlinkClick r:id="rId4" action="ppaction://hlinksldjump"/>
              </a:rPr>
              <a:t>https://github.com/Aniketbisht31/PRISM_GENAI_HACKATHON_Y2026</a:t>
            </a:r>
            <a:r>
              <a:rPr lang="en-US" dirty="0"/>
              <a:t>]</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title"/>
          </p:nvPr>
        </p:nvSpPr>
        <p:spPr>
          <a:xfrm>
            <a:off x="838199" y="-7223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dirty="0">
                <a:solidFill>
                  <a:srgbClr val="704EA6"/>
                </a:solidFill>
                <a:latin typeface="Calibri"/>
                <a:ea typeface="Calibri"/>
                <a:cs typeface="Calibri"/>
                <a:sym typeface="Calibri"/>
              </a:rPr>
              <a:t>Tools and tech stack used</a:t>
            </a:r>
            <a:endParaRPr b="1" dirty="0">
              <a:solidFill>
                <a:srgbClr val="704EA6"/>
              </a:solidFill>
            </a:endParaRPr>
          </a:p>
        </p:txBody>
      </p:sp>
      <p:graphicFrame>
        <p:nvGraphicFramePr>
          <p:cNvPr id="2" name="Table 1">
            <a:extLst>
              <a:ext uri="{FF2B5EF4-FFF2-40B4-BE49-F238E27FC236}">
                <a16:creationId xmlns:a16="http://schemas.microsoft.com/office/drawing/2014/main" id="{E4F72E1C-A119-F74C-8A68-D3C48EB65383}"/>
              </a:ext>
            </a:extLst>
          </p:cNvPr>
          <p:cNvGraphicFramePr>
            <a:graphicFrameLocks noGrp="1"/>
          </p:cNvGraphicFramePr>
          <p:nvPr>
            <p:extLst>
              <p:ext uri="{D42A27DB-BD31-4B8C-83A1-F6EECF244321}">
                <p14:modId xmlns:p14="http://schemas.microsoft.com/office/powerpoint/2010/main" val="2641335651"/>
              </p:ext>
            </p:extLst>
          </p:nvPr>
        </p:nvGraphicFramePr>
        <p:xfrm>
          <a:off x="431798" y="869777"/>
          <a:ext cx="11252202" cy="5325658"/>
        </p:xfrm>
        <a:graphic>
          <a:graphicData uri="http://schemas.openxmlformats.org/drawingml/2006/table">
            <a:tbl>
              <a:tblPr>
                <a:tableStyleId>{5C22544A-7EE6-4342-B048-85BDC9FD1C3A}</a:tableStyleId>
              </a:tblPr>
              <a:tblGrid>
                <a:gridCol w="3750734">
                  <a:extLst>
                    <a:ext uri="{9D8B030D-6E8A-4147-A177-3AD203B41FA5}">
                      <a16:colId xmlns:a16="http://schemas.microsoft.com/office/drawing/2014/main" val="2926213174"/>
                    </a:ext>
                  </a:extLst>
                </a:gridCol>
                <a:gridCol w="3750734">
                  <a:extLst>
                    <a:ext uri="{9D8B030D-6E8A-4147-A177-3AD203B41FA5}">
                      <a16:colId xmlns:a16="http://schemas.microsoft.com/office/drawing/2014/main" val="2252977375"/>
                    </a:ext>
                  </a:extLst>
                </a:gridCol>
                <a:gridCol w="3750734">
                  <a:extLst>
                    <a:ext uri="{9D8B030D-6E8A-4147-A177-3AD203B41FA5}">
                      <a16:colId xmlns:a16="http://schemas.microsoft.com/office/drawing/2014/main" val="3010768873"/>
                    </a:ext>
                  </a:extLst>
                </a:gridCol>
              </a:tblGrid>
              <a:tr h="306072">
                <a:tc>
                  <a:txBody>
                    <a:bodyPr/>
                    <a:lstStyle/>
                    <a:p>
                      <a:pPr>
                        <a:buNone/>
                      </a:pPr>
                      <a:r>
                        <a:rPr lang="en-US" sz="1400"/>
                        <a:t>Layer</a:t>
                      </a:r>
                    </a:p>
                  </a:txBody>
                  <a:tcPr marL="75023" marR="75023" marT="37512" marB="37512" anchor="ctr"/>
                </a:tc>
                <a:tc>
                  <a:txBody>
                    <a:bodyPr/>
                    <a:lstStyle/>
                    <a:p>
                      <a:pPr>
                        <a:buNone/>
                      </a:pPr>
                      <a:r>
                        <a:rPr lang="en-US" sz="1400"/>
                        <a:t>Tools</a:t>
                      </a:r>
                    </a:p>
                  </a:txBody>
                  <a:tcPr marL="75023" marR="75023" marT="37512" marB="37512" anchor="ctr"/>
                </a:tc>
                <a:tc>
                  <a:txBody>
                    <a:bodyPr/>
                    <a:lstStyle/>
                    <a:p>
                      <a:pPr>
                        <a:buNone/>
                      </a:pPr>
                      <a:r>
                        <a:rPr lang="en-US" sz="1400"/>
                        <a:t>Why we chose it</a:t>
                      </a:r>
                    </a:p>
                  </a:txBody>
                  <a:tcPr marL="75023" marR="75023" marT="37512" marB="37512" anchor="ctr"/>
                </a:tc>
                <a:extLst>
                  <a:ext uri="{0D108BD9-81ED-4DB2-BD59-A6C34878D82A}">
                    <a16:rowId xmlns:a16="http://schemas.microsoft.com/office/drawing/2014/main" val="1516069953"/>
                  </a:ext>
                </a:extLst>
              </a:tr>
              <a:tr h="734574">
                <a:tc>
                  <a:txBody>
                    <a:bodyPr/>
                    <a:lstStyle/>
                    <a:p>
                      <a:pPr>
                        <a:buNone/>
                      </a:pPr>
                      <a:r>
                        <a:rPr lang="en-US" sz="1400" dirty="0"/>
                        <a:t>API and streaming</a:t>
                      </a:r>
                    </a:p>
                  </a:txBody>
                  <a:tcPr marL="75023" marR="75023" marT="37512" marB="37512" anchor="ctr"/>
                </a:tc>
                <a:tc>
                  <a:txBody>
                    <a:bodyPr/>
                    <a:lstStyle/>
                    <a:p>
                      <a:pPr>
                        <a:buNone/>
                      </a:pPr>
                      <a:r>
                        <a:rPr lang="en-US" sz="1400"/>
                        <a:t>Python 3.11, FastAPI, WebSocket</a:t>
                      </a:r>
                    </a:p>
                  </a:txBody>
                  <a:tcPr marL="75023" marR="75023" marT="37512" marB="37512" anchor="ctr"/>
                </a:tc>
                <a:tc>
                  <a:txBody>
                    <a:bodyPr/>
                    <a:lstStyle/>
                    <a:p>
                      <a:pPr>
                        <a:buNone/>
                      </a:pPr>
                      <a:r>
                        <a:rPr lang="en-US" sz="1400"/>
                        <a:t>One service handles full questions (REST) and live transcript chunks (WebSocket)</a:t>
                      </a:r>
                    </a:p>
                  </a:txBody>
                  <a:tcPr marL="75023" marR="75023" marT="37512" marB="37512" anchor="ctr"/>
                </a:tc>
                <a:extLst>
                  <a:ext uri="{0D108BD9-81ED-4DB2-BD59-A6C34878D82A}">
                    <a16:rowId xmlns:a16="http://schemas.microsoft.com/office/drawing/2014/main" val="2660594867"/>
                  </a:ext>
                </a:extLst>
              </a:tr>
              <a:tr h="734574">
                <a:tc>
                  <a:txBody>
                    <a:bodyPr/>
                    <a:lstStyle/>
                    <a:p>
                      <a:pPr>
                        <a:buNone/>
                      </a:pPr>
                      <a:r>
                        <a:rPr lang="en-US" sz="1400" dirty="0"/>
                        <a:t>Dense retrieval</a:t>
                      </a:r>
                    </a:p>
                  </a:txBody>
                  <a:tcPr marL="75023" marR="75023" marT="37512" marB="37512" anchor="ctr"/>
                </a:tc>
                <a:tc>
                  <a:txBody>
                    <a:bodyPr/>
                    <a:lstStyle/>
                    <a:p>
                      <a:pPr>
                        <a:buNone/>
                      </a:pPr>
                      <a:r>
                        <a:rPr lang="en-US" sz="1400"/>
                        <a:t>ChromaDB, all-MiniLM-L6-v2</a:t>
                      </a:r>
                    </a:p>
                  </a:txBody>
                  <a:tcPr marL="75023" marR="75023" marT="37512" marB="37512" anchor="ctr"/>
                </a:tc>
                <a:tc>
                  <a:txBody>
                    <a:bodyPr/>
                    <a:lstStyle/>
                    <a:p>
                      <a:pPr>
                        <a:buNone/>
                      </a:pPr>
                      <a:r>
                        <a:rPr lang="en-US" sz="1400" dirty="0"/>
                        <a:t>Small local model and local index, so the corpus and embeddings never leave the machine</a:t>
                      </a:r>
                    </a:p>
                  </a:txBody>
                  <a:tcPr marL="75023" marR="75023" marT="37512" marB="37512" anchor="ctr"/>
                </a:tc>
                <a:extLst>
                  <a:ext uri="{0D108BD9-81ED-4DB2-BD59-A6C34878D82A}">
                    <a16:rowId xmlns:a16="http://schemas.microsoft.com/office/drawing/2014/main" val="569655482"/>
                  </a:ext>
                </a:extLst>
              </a:tr>
              <a:tr h="520323">
                <a:tc>
                  <a:txBody>
                    <a:bodyPr/>
                    <a:lstStyle/>
                    <a:p>
                      <a:pPr>
                        <a:buNone/>
                      </a:pPr>
                      <a:r>
                        <a:rPr lang="en-US" sz="1400"/>
                        <a:t>Sparse retrieval</a:t>
                      </a:r>
                    </a:p>
                  </a:txBody>
                  <a:tcPr marL="75023" marR="75023" marT="37512" marB="37512" anchor="ctr"/>
                </a:tc>
                <a:tc>
                  <a:txBody>
                    <a:bodyPr/>
                    <a:lstStyle/>
                    <a:p>
                      <a:pPr>
                        <a:buNone/>
                      </a:pPr>
                      <a:r>
                        <a:rPr lang="en-US" sz="1400"/>
                        <a:t>BM25</a:t>
                      </a:r>
                    </a:p>
                  </a:txBody>
                  <a:tcPr marL="75023" marR="75023" marT="37512" marB="37512" anchor="ctr"/>
                </a:tc>
                <a:tc>
                  <a:txBody>
                    <a:bodyPr/>
                    <a:lstStyle/>
                    <a:p>
                      <a:pPr>
                        <a:buNone/>
                      </a:pPr>
                      <a:r>
                        <a:rPr lang="en-US" sz="1400"/>
                        <a:t>Catches exact keywords and names that embeddings can miss</a:t>
                      </a:r>
                    </a:p>
                  </a:txBody>
                  <a:tcPr marL="75023" marR="75023" marT="37512" marB="37512" anchor="ctr"/>
                </a:tc>
                <a:extLst>
                  <a:ext uri="{0D108BD9-81ED-4DB2-BD59-A6C34878D82A}">
                    <a16:rowId xmlns:a16="http://schemas.microsoft.com/office/drawing/2014/main" val="3657864905"/>
                  </a:ext>
                </a:extLst>
              </a:tr>
              <a:tr h="520323">
                <a:tc>
                  <a:txBody>
                    <a:bodyPr/>
                    <a:lstStyle/>
                    <a:p>
                      <a:pPr>
                        <a:buNone/>
                      </a:pPr>
                      <a:r>
                        <a:rPr lang="en-US" sz="1400"/>
                        <a:t>Fusion</a:t>
                      </a:r>
                    </a:p>
                  </a:txBody>
                  <a:tcPr marL="75023" marR="75023" marT="37512" marB="37512" anchor="ctr"/>
                </a:tc>
                <a:tc>
                  <a:txBody>
                    <a:bodyPr/>
                    <a:lstStyle/>
                    <a:p>
                      <a:pPr>
                        <a:buNone/>
                      </a:pPr>
                      <a:r>
                        <a:rPr lang="en-US" sz="1400"/>
                        <a:t>Reciprocal rank fusion, section dedupe</a:t>
                      </a:r>
                    </a:p>
                  </a:txBody>
                  <a:tcPr marL="75023" marR="75023" marT="37512" marB="37512" anchor="ctr"/>
                </a:tc>
                <a:tc>
                  <a:txBody>
                    <a:bodyPr/>
                    <a:lstStyle/>
                    <a:p>
                      <a:pPr>
                        <a:buNone/>
                      </a:pPr>
                      <a:r>
                        <a:rPr lang="en-US" sz="1400"/>
                        <a:t>Combines rankings across sub-queries without a heavy reranker</a:t>
                      </a:r>
                    </a:p>
                  </a:txBody>
                  <a:tcPr marL="75023" marR="75023" marT="37512" marB="37512" anchor="ctr"/>
                </a:tc>
                <a:extLst>
                  <a:ext uri="{0D108BD9-81ED-4DB2-BD59-A6C34878D82A}">
                    <a16:rowId xmlns:a16="http://schemas.microsoft.com/office/drawing/2014/main" val="1573752119"/>
                  </a:ext>
                </a:extLst>
              </a:tr>
              <a:tr h="948823">
                <a:tc>
                  <a:txBody>
                    <a:bodyPr/>
                    <a:lstStyle/>
                    <a:p>
                      <a:pPr>
                        <a:buNone/>
                      </a:pPr>
                      <a:r>
                        <a:rPr lang="en-US" sz="1400"/>
                        <a:t>Language model</a:t>
                      </a:r>
                    </a:p>
                  </a:txBody>
                  <a:tcPr marL="75023" marR="75023" marT="37512" marB="37512" anchor="ctr"/>
                </a:tc>
                <a:tc>
                  <a:txBody>
                    <a:bodyPr/>
                    <a:lstStyle/>
                    <a:p>
                      <a:pPr>
                        <a:buNone/>
                      </a:pPr>
                      <a:r>
                        <a:rPr lang="en-US" sz="1400"/>
                        <a:t>Ollama (local) or Groq</a:t>
                      </a:r>
                    </a:p>
                  </a:txBody>
                  <a:tcPr marL="75023" marR="75023" marT="37512" marB="37512" anchor="ctr"/>
                </a:tc>
                <a:tc>
                  <a:txBody>
                    <a:bodyPr/>
                    <a:lstStyle/>
                    <a:p>
                      <a:pPr>
                        <a:buNone/>
                      </a:pPr>
                      <a:r>
                        <a:rPr lang="en-US" sz="1400"/>
                        <a:t>Used for controller decisions, decomposition and synthesis. One variable switches between private local inference and fast hosted inference</a:t>
                      </a:r>
                    </a:p>
                  </a:txBody>
                  <a:tcPr marL="75023" marR="75023" marT="37512" marB="37512" anchor="ctr"/>
                </a:tc>
                <a:extLst>
                  <a:ext uri="{0D108BD9-81ED-4DB2-BD59-A6C34878D82A}">
                    <a16:rowId xmlns:a16="http://schemas.microsoft.com/office/drawing/2014/main" val="3021178753"/>
                  </a:ext>
                </a:extLst>
              </a:tr>
              <a:tr h="520323">
                <a:tc>
                  <a:txBody>
                    <a:bodyPr/>
                    <a:lstStyle/>
                    <a:p>
                      <a:pPr>
                        <a:buNone/>
                      </a:pPr>
                      <a:r>
                        <a:rPr lang="en-US" sz="1400"/>
                        <a:t>Grounding</a:t>
                      </a:r>
                    </a:p>
                  </a:txBody>
                  <a:tcPr marL="75023" marR="75023" marT="37512" marB="37512" anchor="ctr"/>
                </a:tc>
                <a:tc>
                  <a:txBody>
                    <a:bodyPr/>
                    <a:lstStyle/>
                    <a:p>
                      <a:pPr>
                        <a:buNone/>
                      </a:pPr>
                      <a:r>
                        <a:rPr lang="en-US" sz="1400"/>
                        <a:t>Exact-excerpt validator, uncertainty fallback</a:t>
                      </a:r>
                    </a:p>
                  </a:txBody>
                  <a:tcPr marL="75023" marR="75023" marT="37512" marB="37512" anchor="ctr"/>
                </a:tc>
                <a:tc>
                  <a:txBody>
                    <a:bodyPr/>
                    <a:lstStyle/>
                    <a:p>
                      <a:pPr>
                        <a:buNone/>
                      </a:pPr>
                      <a:r>
                        <a:rPr lang="en-US" sz="1400"/>
                        <a:t>Unsupported claims are removed or flagged, never invented</a:t>
                      </a:r>
                    </a:p>
                  </a:txBody>
                  <a:tcPr marL="75023" marR="75023" marT="37512" marB="37512" anchor="ctr"/>
                </a:tc>
                <a:extLst>
                  <a:ext uri="{0D108BD9-81ED-4DB2-BD59-A6C34878D82A}">
                    <a16:rowId xmlns:a16="http://schemas.microsoft.com/office/drawing/2014/main" val="1414549122"/>
                  </a:ext>
                </a:extLst>
              </a:tr>
              <a:tr h="520323">
                <a:tc>
                  <a:txBody>
                    <a:bodyPr/>
                    <a:lstStyle/>
                    <a:p>
                      <a:pPr>
                        <a:buNone/>
                      </a:pPr>
                      <a:r>
                        <a:rPr lang="en-US" sz="1400"/>
                        <a:t>Telemetry</a:t>
                      </a:r>
                    </a:p>
                  </a:txBody>
                  <a:tcPr marL="75023" marR="75023" marT="37512" marB="37512" anchor="ctr"/>
                </a:tc>
                <a:tc>
                  <a:txBody>
                    <a:bodyPr/>
                    <a:lstStyle/>
                    <a:p>
                      <a:pPr>
                        <a:buNone/>
                      </a:pPr>
                      <a:r>
                        <a:rPr lang="en-US" sz="1400"/>
                        <a:t>JSONL event log, /api/telemetry/report</a:t>
                      </a:r>
                    </a:p>
                  </a:txBody>
                  <a:tcPr marL="75023" marR="75023" marT="37512" marB="37512" anchor="ctr"/>
                </a:tc>
                <a:tc>
                  <a:txBody>
                    <a:bodyPr/>
                    <a:lstStyle/>
                    <a:p>
                      <a:pPr>
                        <a:buNone/>
                      </a:pPr>
                      <a:r>
                        <a:rPr lang="en-US" sz="1400"/>
                        <a:t>Timings, retrieval triggers, answer-version lineage and cost for every turn</a:t>
                      </a:r>
                    </a:p>
                  </a:txBody>
                  <a:tcPr marL="75023" marR="75023" marT="37512" marB="37512" anchor="ctr"/>
                </a:tc>
                <a:extLst>
                  <a:ext uri="{0D108BD9-81ED-4DB2-BD59-A6C34878D82A}">
                    <a16:rowId xmlns:a16="http://schemas.microsoft.com/office/drawing/2014/main" val="4032696902"/>
                  </a:ext>
                </a:extLst>
              </a:tr>
              <a:tr h="520323">
                <a:tc>
                  <a:txBody>
                    <a:bodyPr/>
                    <a:lstStyle/>
                    <a:p>
                      <a:pPr>
                        <a:buNone/>
                      </a:pPr>
                      <a:r>
                        <a:rPr lang="en-US" sz="1400" dirty="0"/>
                        <a:t>Packaging and QA</a:t>
                      </a:r>
                    </a:p>
                  </a:txBody>
                  <a:tcPr marL="75023" marR="75023" marT="37512" marB="37512" anchor="ctr"/>
                </a:tc>
                <a:tc>
                  <a:txBody>
                    <a:bodyPr/>
                    <a:lstStyle/>
                    <a:p>
                      <a:pPr>
                        <a:buNone/>
                      </a:pPr>
                      <a:r>
                        <a:rPr lang="en-US" sz="1400"/>
                        <a:t>Docker Compose, pytest, eval/run_gates, ablation runner</a:t>
                      </a:r>
                    </a:p>
                  </a:txBody>
                  <a:tcPr marL="75023" marR="75023" marT="37512" marB="37512" anchor="ctr"/>
                </a:tc>
                <a:tc>
                  <a:txBody>
                    <a:bodyPr/>
                    <a:lstStyle/>
                    <a:p>
                      <a:pPr>
                        <a:buNone/>
                      </a:pPr>
                      <a:r>
                        <a:rPr lang="en-US" sz="1400" dirty="0"/>
                        <a:t>One-command run, offline tests, measured acceptance gates</a:t>
                      </a:r>
                    </a:p>
                  </a:txBody>
                  <a:tcPr marL="75023" marR="75023" marT="37512" marB="37512" anchor="ctr"/>
                </a:tc>
                <a:extLst>
                  <a:ext uri="{0D108BD9-81ED-4DB2-BD59-A6C34878D82A}">
                    <a16:rowId xmlns:a16="http://schemas.microsoft.com/office/drawing/2014/main" val="48188673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title"/>
          </p:nvPr>
        </p:nvSpPr>
        <p:spPr>
          <a:xfrm>
            <a:off x="2173515" y="-149906"/>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dirty="0">
                <a:solidFill>
                  <a:srgbClr val="704EA6"/>
                </a:solidFill>
                <a:latin typeface="Calibri"/>
                <a:ea typeface="Calibri"/>
                <a:cs typeface="Calibri"/>
                <a:sym typeface="Calibri"/>
              </a:rPr>
              <a:t>Impact &amp; Use case</a:t>
            </a:r>
            <a:endParaRPr b="1" dirty="0">
              <a:solidFill>
                <a:srgbClr val="704EA6"/>
              </a:solidFill>
            </a:endParaRPr>
          </a:p>
        </p:txBody>
      </p:sp>
      <p:sp>
        <p:nvSpPr>
          <p:cNvPr id="3" name="TextBox 2">
            <a:extLst>
              <a:ext uri="{FF2B5EF4-FFF2-40B4-BE49-F238E27FC236}">
                <a16:creationId xmlns:a16="http://schemas.microsoft.com/office/drawing/2014/main" id="{D3FC4F37-A0CA-1D51-7198-4383439D452B}"/>
              </a:ext>
            </a:extLst>
          </p:cNvPr>
          <p:cNvSpPr txBox="1"/>
          <p:nvPr/>
        </p:nvSpPr>
        <p:spPr>
          <a:xfrm>
            <a:off x="449944" y="725714"/>
            <a:ext cx="10515600" cy="3416320"/>
          </a:xfrm>
          <a:prstGeom prst="rect">
            <a:avLst/>
          </a:prstGeom>
          <a:noFill/>
        </p:spPr>
        <p:txBody>
          <a:bodyPr wrap="square">
            <a:spAutoFit/>
          </a:bodyPr>
          <a:lstStyle/>
          <a:p>
            <a:pPr rtl="0">
              <a:buNone/>
            </a:pPr>
            <a:r>
              <a:rPr lang="en-US" sz="1800" b="1" dirty="0"/>
              <a:t>Use Case</a:t>
            </a:r>
          </a:p>
          <a:p>
            <a:pPr rtl="0">
              <a:buNone/>
            </a:pPr>
            <a:r>
              <a:rPr lang="en-US" sz="1800" b="1" dirty="0"/>
              <a:t>Real-time voice and chat assistant for workshop and event planning</a:t>
            </a:r>
            <a:endParaRPr lang="en-US" sz="1800" dirty="0"/>
          </a:p>
          <a:p>
            <a:pPr marL="342900" lvl="0" indent="-342900" rtl="0">
              <a:buFont typeface="Arial" panose="020B0604020202020204" pitchFamily="34" charset="0"/>
              <a:buChar char="•"/>
            </a:pPr>
            <a:r>
              <a:rPr lang="en-US" sz="1800" dirty="0"/>
              <a:t>A planner dictates a request: </a:t>
            </a:r>
            <a:r>
              <a:rPr lang="en-US" sz="1800" i="1" dirty="0"/>
              <a:t>"Customer workshop in Pune, 30 people, I need the cancellation policy and the catering options..."</a:t>
            </a:r>
            <a:endParaRPr lang="en-US" sz="1800" dirty="0"/>
          </a:p>
          <a:p>
            <a:pPr marL="342900" lvl="0" indent="-342900" rtl="0">
              <a:buFont typeface="Arial" panose="020B0604020202020204" pitchFamily="34" charset="0"/>
              <a:buChar char="•"/>
            </a:pPr>
            <a:r>
              <a:rPr lang="en-US" sz="1800" dirty="0"/>
              <a:t>The system starts retrieving </a:t>
            </a:r>
            <a:r>
              <a:rPr lang="en-US" sz="1800" b="1" dirty="0"/>
              <a:t>while the user is still speaking</a:t>
            </a:r>
            <a:r>
              <a:rPr lang="en-US" sz="1800" dirty="0"/>
              <a:t>, instead of waiting for the full question.</a:t>
            </a:r>
          </a:p>
          <a:p>
            <a:pPr marL="342900" lvl="0" indent="-342900" rtl="0">
              <a:buFont typeface="Arial" panose="020B0604020202020204" pitchFamily="34" charset="0"/>
              <a:buChar char="•"/>
            </a:pPr>
            <a:r>
              <a:rPr lang="en-US" sz="1800" dirty="0"/>
              <a:t>Compound requests are split into up to </a:t>
            </a:r>
            <a:r>
              <a:rPr lang="en-US" sz="1800" b="1" dirty="0"/>
              <a:t>4 subqueries</a:t>
            </a:r>
            <a:r>
              <a:rPr lang="en-US" sz="1800" dirty="0"/>
              <a:t>, retrieved in parallel.</a:t>
            </a:r>
          </a:p>
          <a:p>
            <a:pPr marL="342900" lvl="0" indent="-342900" rtl="0">
              <a:buFont typeface="Arial" panose="020B0604020202020204" pitchFamily="34" charset="0"/>
              <a:buChar char="•"/>
            </a:pPr>
            <a:r>
              <a:rPr lang="en-US" sz="1800" dirty="0"/>
              <a:t>Late details ("it's during monsoon season") </a:t>
            </a:r>
            <a:r>
              <a:rPr lang="en-US" sz="1800" b="1" dirty="0"/>
              <a:t>refine the existing answer</a:t>
            </a:r>
            <a:r>
              <a:rPr lang="en-US" sz="1800" dirty="0"/>
              <a:t> without restarting.</a:t>
            </a:r>
          </a:p>
          <a:p>
            <a:pPr marL="342900" lvl="0" indent="-342900" rtl="0">
              <a:buFont typeface="Arial" panose="020B0604020202020204" pitchFamily="34" charset="0"/>
              <a:buChar char="•"/>
            </a:pPr>
            <a:r>
              <a:rPr lang="en-US" sz="1800" dirty="0"/>
              <a:t>Follow-ups like "shorten that" or "translate that" </a:t>
            </a:r>
            <a:r>
              <a:rPr lang="en-US" sz="1800" b="1" dirty="0"/>
              <a:t>reuse the answer with zero new retrieval</a:t>
            </a:r>
            <a:r>
              <a:rPr lang="en-US" sz="1800" dirty="0"/>
              <a:t>.</a:t>
            </a:r>
          </a:p>
          <a:p>
            <a:pPr lvl="0" rtl="0"/>
            <a:endParaRPr lang="en-US" sz="1800" dirty="0"/>
          </a:p>
          <a:p>
            <a:pPr rtl="0">
              <a:buNone/>
            </a:pPr>
            <a:r>
              <a:rPr lang="en-US" sz="1800" b="1" dirty="0"/>
              <a:t>Where it applies beyond workshops:</a:t>
            </a:r>
            <a:r>
              <a:rPr lang="en-US" sz="1800" dirty="0"/>
              <a:t> customer-support call assistants, live voice agents, internal policy and knowledge-base Q&amp;A, and venue or vendor booking desks.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E01EE-84B7-DB3F-DBFC-C5F5F62B6584}"/>
              </a:ext>
            </a:extLst>
          </p:cNvPr>
          <p:cNvSpPr>
            <a:spLocks noGrp="1"/>
          </p:cNvSpPr>
          <p:nvPr>
            <p:ph type="title"/>
          </p:nvPr>
        </p:nvSpPr>
        <p:spPr>
          <a:xfrm>
            <a:off x="707571" y="0"/>
            <a:ext cx="10515600" cy="1325563"/>
          </a:xfrm>
        </p:spPr>
        <p:txBody>
          <a:bodyPr/>
          <a:lstStyle/>
          <a:p>
            <a:r>
              <a:rPr lang="en-US" b="1" dirty="0">
                <a:solidFill>
                  <a:srgbClr val="704EA6"/>
                </a:solidFill>
              </a:rPr>
              <a:t>Use case</a:t>
            </a:r>
            <a:endParaRPr lang="en-US" dirty="0"/>
          </a:p>
        </p:txBody>
      </p:sp>
      <p:graphicFrame>
        <p:nvGraphicFramePr>
          <p:cNvPr id="4" name="Table 3">
            <a:extLst>
              <a:ext uri="{FF2B5EF4-FFF2-40B4-BE49-F238E27FC236}">
                <a16:creationId xmlns:a16="http://schemas.microsoft.com/office/drawing/2014/main" id="{FC87BF07-D51D-EDDC-438D-B3DBB66EF900}"/>
              </a:ext>
            </a:extLst>
          </p:cNvPr>
          <p:cNvGraphicFramePr>
            <a:graphicFrameLocks noGrp="1"/>
          </p:cNvGraphicFramePr>
          <p:nvPr>
            <p:extLst>
              <p:ext uri="{D42A27DB-BD31-4B8C-83A1-F6EECF244321}">
                <p14:modId xmlns:p14="http://schemas.microsoft.com/office/powerpoint/2010/main" val="3079519094"/>
              </p:ext>
            </p:extLst>
          </p:nvPr>
        </p:nvGraphicFramePr>
        <p:xfrm>
          <a:off x="123371" y="957943"/>
          <a:ext cx="11684000" cy="5696945"/>
        </p:xfrm>
        <a:graphic>
          <a:graphicData uri="http://schemas.openxmlformats.org/drawingml/2006/table">
            <a:tbl>
              <a:tblPr>
                <a:tableStyleId>{5C22544A-7EE6-4342-B048-85BDC9FD1C3A}</a:tableStyleId>
              </a:tblPr>
              <a:tblGrid>
                <a:gridCol w="5842000">
                  <a:extLst>
                    <a:ext uri="{9D8B030D-6E8A-4147-A177-3AD203B41FA5}">
                      <a16:colId xmlns:a16="http://schemas.microsoft.com/office/drawing/2014/main" val="48881023"/>
                    </a:ext>
                  </a:extLst>
                </a:gridCol>
                <a:gridCol w="5842000">
                  <a:extLst>
                    <a:ext uri="{9D8B030D-6E8A-4147-A177-3AD203B41FA5}">
                      <a16:colId xmlns:a16="http://schemas.microsoft.com/office/drawing/2014/main" val="3596546176"/>
                    </a:ext>
                  </a:extLst>
                </a:gridCol>
              </a:tblGrid>
              <a:tr h="403085">
                <a:tc>
                  <a:txBody>
                    <a:bodyPr/>
                    <a:lstStyle/>
                    <a:p>
                      <a:pPr>
                        <a:buNone/>
                      </a:pPr>
                      <a:r>
                        <a:rPr lang="en-US" sz="1800" dirty="0"/>
                        <a:t>Area</a:t>
                      </a:r>
                    </a:p>
                  </a:txBody>
                  <a:tcPr anchor="ctr"/>
                </a:tc>
                <a:tc>
                  <a:txBody>
                    <a:bodyPr/>
                    <a:lstStyle/>
                    <a:p>
                      <a:pPr>
                        <a:buNone/>
                      </a:pPr>
                      <a:r>
                        <a:rPr lang="en-US" sz="1800"/>
                        <a:t>What it delivers</a:t>
                      </a:r>
                    </a:p>
                  </a:txBody>
                  <a:tcPr anchor="ctr"/>
                </a:tc>
                <a:extLst>
                  <a:ext uri="{0D108BD9-81ED-4DB2-BD59-A6C34878D82A}">
                    <a16:rowId xmlns:a16="http://schemas.microsoft.com/office/drawing/2014/main" val="1712186854"/>
                  </a:ext>
                </a:extLst>
              </a:tr>
              <a:tr h="693012">
                <a:tc>
                  <a:txBody>
                    <a:bodyPr/>
                    <a:lstStyle/>
                    <a:p>
                      <a:pPr>
                        <a:buNone/>
                      </a:pPr>
                      <a:r>
                        <a:rPr lang="en-US" sz="1800" dirty="0"/>
                        <a:t>Lower latency</a:t>
                      </a:r>
                    </a:p>
                  </a:txBody>
                  <a:tcPr anchor="ctr"/>
                </a:tc>
                <a:tc>
                  <a:txBody>
                    <a:bodyPr/>
                    <a:lstStyle/>
                    <a:p>
                      <a:pPr>
                        <a:buNone/>
                      </a:pPr>
                      <a:r>
                        <a:rPr lang="en-US" sz="1800"/>
                        <a:t>Provisional retrieval starts mid-utterance, so evidence is ready when the user finishes</a:t>
                      </a:r>
                    </a:p>
                  </a:txBody>
                  <a:tcPr anchor="ctr"/>
                </a:tc>
                <a:extLst>
                  <a:ext uri="{0D108BD9-81ED-4DB2-BD59-A6C34878D82A}">
                    <a16:rowId xmlns:a16="http://schemas.microsoft.com/office/drawing/2014/main" val="3194476663"/>
                  </a:ext>
                </a:extLst>
              </a:tr>
              <a:tr h="693012">
                <a:tc>
                  <a:txBody>
                    <a:bodyPr/>
                    <a:lstStyle/>
                    <a:p>
                      <a:pPr>
                        <a:buNone/>
                      </a:pPr>
                      <a:r>
                        <a:rPr lang="en-US" sz="1800"/>
                        <a:t>Trustworthy answers</a:t>
                      </a:r>
                    </a:p>
                  </a:txBody>
                  <a:tcPr anchor="ctr"/>
                </a:tc>
                <a:tc>
                  <a:txBody>
                    <a:bodyPr/>
                    <a:lstStyle/>
                    <a:p>
                      <a:pPr>
                        <a:buNone/>
                      </a:pPr>
                      <a:r>
                        <a:rPr lang="en-US" sz="1800" dirty="0"/>
                        <a:t>Every factual claim carries a [</a:t>
                      </a:r>
                      <a:r>
                        <a:rPr lang="en-US" sz="1800" dirty="0" err="1"/>
                        <a:t>Doc_ID</a:t>
                      </a:r>
                      <a:r>
                        <a:rPr lang="en-US" sz="1800" dirty="0"/>
                        <a:t> §Section] citation with an exact source excerpt; unsupported claims are removed</a:t>
                      </a:r>
                    </a:p>
                  </a:txBody>
                  <a:tcPr anchor="ctr"/>
                </a:tc>
                <a:extLst>
                  <a:ext uri="{0D108BD9-81ED-4DB2-BD59-A6C34878D82A}">
                    <a16:rowId xmlns:a16="http://schemas.microsoft.com/office/drawing/2014/main" val="1652301120"/>
                  </a:ext>
                </a:extLst>
              </a:tr>
              <a:tr h="693012">
                <a:tc>
                  <a:txBody>
                    <a:bodyPr/>
                    <a:lstStyle/>
                    <a:p>
                      <a:pPr>
                        <a:buNone/>
                      </a:pPr>
                      <a:r>
                        <a:rPr lang="en-US" sz="1800"/>
                        <a:t>Honest uncertainty</a:t>
                      </a:r>
                    </a:p>
                  </a:txBody>
                  <a:tcPr anchor="ctr"/>
                </a:tc>
                <a:tc>
                  <a:txBody>
                    <a:bodyPr/>
                    <a:lstStyle/>
                    <a:p>
                      <a:pPr>
                        <a:buNone/>
                      </a:pPr>
                      <a:r>
                        <a:rPr lang="en-US" sz="1800"/>
                        <a:t>If the corpus can't support an answer, the system says so instead of guessing</a:t>
                      </a:r>
                    </a:p>
                  </a:txBody>
                  <a:tcPr anchor="ctr"/>
                </a:tc>
                <a:extLst>
                  <a:ext uri="{0D108BD9-81ED-4DB2-BD59-A6C34878D82A}">
                    <a16:rowId xmlns:a16="http://schemas.microsoft.com/office/drawing/2014/main" val="3201415812"/>
                  </a:ext>
                </a:extLst>
              </a:tr>
              <a:tr h="693012">
                <a:tc>
                  <a:txBody>
                    <a:bodyPr/>
                    <a:lstStyle/>
                    <a:p>
                      <a:pPr>
                        <a:buNone/>
                      </a:pPr>
                      <a:r>
                        <a:rPr lang="en-US" sz="1800"/>
                        <a:t>Lower compute cost</a:t>
                      </a:r>
                    </a:p>
                  </a:txBody>
                  <a:tcPr anchor="ctr"/>
                </a:tc>
                <a:tc>
                  <a:txBody>
                    <a:bodyPr/>
                    <a:lstStyle/>
                    <a:p>
                      <a:pPr>
                        <a:buNone/>
                      </a:pPr>
                      <a:r>
                        <a:rPr lang="en-US" sz="1800"/>
                        <a:t>Presentation-only requests skip retrieval; Ollama runs at zero provider cost</a:t>
                      </a:r>
                    </a:p>
                  </a:txBody>
                  <a:tcPr anchor="ctr"/>
                </a:tc>
                <a:extLst>
                  <a:ext uri="{0D108BD9-81ED-4DB2-BD59-A6C34878D82A}">
                    <a16:rowId xmlns:a16="http://schemas.microsoft.com/office/drawing/2014/main" val="1353541057"/>
                  </a:ext>
                </a:extLst>
              </a:tr>
              <a:tr h="693012">
                <a:tc>
                  <a:txBody>
                    <a:bodyPr/>
                    <a:lstStyle/>
                    <a:p>
                      <a:pPr>
                        <a:buNone/>
                      </a:pPr>
                      <a:r>
                        <a:rPr lang="en-US" sz="1800"/>
                        <a:t>Privacy control</a:t>
                      </a:r>
                    </a:p>
                  </a:txBody>
                  <a:tcPr anchor="ctr"/>
                </a:tc>
                <a:tc>
                  <a:txBody>
                    <a:bodyPr/>
                    <a:lstStyle/>
                    <a:p>
                      <a:pPr>
                        <a:buNone/>
                      </a:pPr>
                      <a:r>
                        <a:rPr lang="en-US" sz="1800"/>
                        <a:t>Corpus, vector index, and embeddings stay local; choose Ollama (local) or Groq (cloud) by data needs</a:t>
                      </a:r>
                    </a:p>
                  </a:txBody>
                  <a:tcPr anchor="ctr"/>
                </a:tc>
                <a:extLst>
                  <a:ext uri="{0D108BD9-81ED-4DB2-BD59-A6C34878D82A}">
                    <a16:rowId xmlns:a16="http://schemas.microsoft.com/office/drawing/2014/main" val="394529251"/>
                  </a:ext>
                </a:extLst>
              </a:tr>
              <a:tr h="693012">
                <a:tc>
                  <a:txBody>
                    <a:bodyPr/>
                    <a:lstStyle/>
                    <a:p>
                      <a:pPr>
                        <a:buNone/>
                      </a:pPr>
                      <a:r>
                        <a:rPr lang="en-US" sz="1800"/>
                        <a:t>Full observability</a:t>
                      </a:r>
                    </a:p>
                  </a:txBody>
                  <a:tcPr anchor="ctr"/>
                </a:tc>
                <a:tc>
                  <a:txBody>
                    <a:bodyPr/>
                    <a:lstStyle/>
                    <a:p>
                      <a:pPr>
                        <a:buNone/>
                      </a:pPr>
                      <a:r>
                        <a:rPr lang="en-US" sz="1800"/>
                        <a:t>Per-request trace IDs, retrieval timings, token usage, cost estimates, and answer lineage</a:t>
                      </a:r>
                    </a:p>
                  </a:txBody>
                  <a:tcPr anchor="ctr"/>
                </a:tc>
                <a:extLst>
                  <a:ext uri="{0D108BD9-81ED-4DB2-BD59-A6C34878D82A}">
                    <a16:rowId xmlns:a16="http://schemas.microsoft.com/office/drawing/2014/main" val="4290995535"/>
                  </a:ext>
                </a:extLst>
              </a:tr>
              <a:tr h="693012">
                <a:tc>
                  <a:txBody>
                    <a:bodyPr/>
                    <a:lstStyle/>
                    <a:p>
                      <a:pPr>
                        <a:buNone/>
                      </a:pPr>
                      <a:r>
                        <a:rPr lang="en-US" sz="1800" dirty="0"/>
                        <a:t>Measurable quality</a:t>
                      </a:r>
                    </a:p>
                  </a:txBody>
                  <a:tcPr anchor="ctr"/>
                </a:tc>
                <a:tc>
                  <a:txBody>
                    <a:bodyPr/>
                    <a:lstStyle/>
                    <a:p>
                      <a:pPr>
                        <a:buNone/>
                      </a:pPr>
                      <a:r>
                        <a:rPr lang="en-US" sz="1800" dirty="0"/>
                        <a:t>6 evaluation gates (G1–G6) over 72 test cases covering early retrieval, decomposition, citation support, and trace coverage</a:t>
                      </a:r>
                    </a:p>
                  </a:txBody>
                  <a:tcPr anchor="ctr"/>
                </a:tc>
                <a:extLst>
                  <a:ext uri="{0D108BD9-81ED-4DB2-BD59-A6C34878D82A}">
                    <a16:rowId xmlns:a16="http://schemas.microsoft.com/office/drawing/2014/main" val="855929119"/>
                  </a:ext>
                </a:extLst>
              </a:tr>
            </a:tbl>
          </a:graphicData>
        </a:graphic>
      </p:graphicFrame>
      <p:sp>
        <p:nvSpPr>
          <p:cNvPr id="6" name="TextBox 5">
            <a:extLst>
              <a:ext uri="{FF2B5EF4-FFF2-40B4-BE49-F238E27FC236}">
                <a16:creationId xmlns:a16="http://schemas.microsoft.com/office/drawing/2014/main" id="{CFDD99FE-B2F8-1A28-79D2-4DD7ECB4E343}"/>
              </a:ext>
            </a:extLst>
          </p:cNvPr>
          <p:cNvSpPr txBox="1"/>
          <p:nvPr/>
        </p:nvSpPr>
        <p:spPr>
          <a:xfrm>
            <a:off x="3048000" y="3278740"/>
            <a:ext cx="6096000" cy="307777"/>
          </a:xfrm>
          <a:prstGeom prst="rect">
            <a:avLst/>
          </a:prstGeom>
          <a:noFill/>
        </p:spPr>
        <p:txBody>
          <a:bodyPr wrap="square">
            <a:spAutoFit/>
          </a:bodyPr>
          <a:lstStyle/>
          <a:p>
            <a:pPr rtl="0">
              <a:buNone/>
            </a:pPr>
            <a:r>
              <a:rPr lang="en-US" b="1"/>
              <a:t>Impact</a:t>
            </a:r>
          </a:p>
        </p:txBody>
      </p:sp>
    </p:spTree>
    <p:extLst>
      <p:ext uri="{BB962C8B-B14F-4D97-AF65-F5344CB8AC3E}">
        <p14:creationId xmlns:p14="http://schemas.microsoft.com/office/powerpoint/2010/main" val="2077739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838200" y="21998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dirty="0">
                <a:solidFill>
                  <a:srgbClr val="704EA6"/>
                </a:solidFill>
                <a:latin typeface="Calibri"/>
                <a:ea typeface="Calibri"/>
                <a:cs typeface="Calibri"/>
                <a:sym typeface="Calibri"/>
              </a:rPr>
              <a:t>Innovation highlights, results and limitations</a:t>
            </a:r>
            <a:endParaRPr sz="4400" b="1" dirty="0">
              <a:solidFill>
                <a:srgbClr val="704EA6"/>
              </a:solidFill>
            </a:endParaRPr>
          </a:p>
        </p:txBody>
      </p:sp>
      <p:sp>
        <p:nvSpPr>
          <p:cNvPr id="138" name="Google Shape;138;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62500" lnSpcReduction="20000"/>
          </a:bodyPr>
          <a:lstStyle/>
          <a:p>
            <a:r>
              <a:rPr lang="en-US" b="1" dirty="0"/>
              <a:t>Innovation Highlights</a:t>
            </a:r>
          </a:p>
          <a:p>
            <a:pPr lvl="0"/>
            <a:r>
              <a:rPr lang="en-US" b="1" dirty="0"/>
              <a:t>Retrieval before the sentence ends.</a:t>
            </a:r>
            <a:r>
              <a:rPr lang="en-US" dirty="0"/>
              <a:t> A controller reads the growing transcript and decides WAIT, RETRIEVE, or NO_RETRIEVAL after every chunk, so search can start mid-utterance.</a:t>
            </a:r>
          </a:p>
          <a:p>
            <a:pPr lvl="0"/>
            <a:r>
              <a:rPr lang="en-US" b="1" dirty="0"/>
              <a:t>Multi-intent decomposition.</a:t>
            </a:r>
            <a:r>
              <a:rPr lang="en-US" dirty="0"/>
              <a:t> Compound requests split into up to 4 subqueries, retrieved in parallel.</a:t>
            </a:r>
          </a:p>
          <a:p>
            <a:pPr lvl="0"/>
            <a:r>
              <a:rPr lang="en-US" b="1" dirty="0"/>
              <a:t>Hybrid retrieval.</a:t>
            </a:r>
            <a:r>
              <a:rPr lang="en-US" dirty="0"/>
              <a:t> Dense (all-MiniLM-L6-v2 + </a:t>
            </a:r>
            <a:r>
              <a:rPr lang="en-US" dirty="0" err="1"/>
              <a:t>ChromaDB</a:t>
            </a:r>
            <a:r>
              <a:rPr lang="en-US" dirty="0"/>
              <a:t>) and sparse (BM25) results are merged with reciprocal rank fusion, with repeated sections removed.</a:t>
            </a:r>
          </a:p>
          <a:p>
            <a:pPr lvl="0"/>
            <a:r>
              <a:rPr lang="en-US" b="1" dirty="0"/>
              <a:t>Late-detail refinement.</a:t>
            </a:r>
            <a:r>
              <a:rPr lang="en-US" dirty="0"/>
              <a:t> New details trigger delta retrieval and produce a new answer version, with no restart.</a:t>
            </a:r>
          </a:p>
          <a:p>
            <a:pPr lvl="0"/>
            <a:r>
              <a:rPr lang="en-US" b="1" dirty="0"/>
              <a:t>Zero-retrieval presentation turns.</a:t>
            </a:r>
            <a:r>
              <a:rPr lang="en-US" dirty="0"/>
              <a:t> "Shorten that" or "translate that" reuses prior citations and never calls the retriever.</a:t>
            </a:r>
          </a:p>
          <a:p>
            <a:pPr lvl="0"/>
            <a:r>
              <a:rPr lang="en-US" b="1" dirty="0"/>
              <a:t>Grounding by design.</a:t>
            </a:r>
            <a:r>
              <a:rPr lang="en-US" dirty="0"/>
              <a:t> Exact-excerpt checks, per-sentence citations, and named-venue validation remove unsupported claims, and the system falls back to uncertainty rather than model knowledge.</a:t>
            </a:r>
          </a:p>
          <a:p>
            <a:pPr lvl="0"/>
            <a:r>
              <a:rPr lang="en-US" b="1" dirty="0"/>
              <a:t>Built-in observability.</a:t>
            </a:r>
            <a:r>
              <a:rPr lang="en-US" dirty="0"/>
              <a:t> Trace IDs, timings, token usage, cost estimates, and answer lineage for every request.</a:t>
            </a:r>
          </a:p>
          <a:p>
            <a:pPr marL="228600" lvl="0" indent="-50800" algn="l" rtl="0">
              <a:lnSpc>
                <a:spcPct val="90000"/>
              </a:lnSpc>
              <a:spcBef>
                <a:spcPts val="0"/>
              </a:spcBef>
              <a:spcAft>
                <a:spcPts val="0"/>
              </a:spcAft>
              <a:buClr>
                <a:schemeClr val="dk1"/>
              </a:buClr>
              <a:buSzPts val="280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CEFB4-C055-D158-6842-CC0CFC836AD9}"/>
              </a:ext>
            </a:extLst>
          </p:cNvPr>
          <p:cNvSpPr>
            <a:spLocks noGrp="1"/>
          </p:cNvSpPr>
          <p:nvPr>
            <p:ph type="title"/>
          </p:nvPr>
        </p:nvSpPr>
        <p:spPr>
          <a:xfrm>
            <a:off x="1041399" y="120435"/>
            <a:ext cx="10515600" cy="1325563"/>
          </a:xfrm>
        </p:spPr>
        <p:txBody>
          <a:bodyPr/>
          <a:lstStyle/>
          <a:p>
            <a:r>
              <a:rPr lang="en-US" b="1" dirty="0">
                <a:solidFill>
                  <a:srgbClr val="704EA6"/>
                </a:solidFill>
              </a:rPr>
              <a:t>results</a:t>
            </a:r>
            <a:endParaRPr lang="en-US" dirty="0"/>
          </a:p>
        </p:txBody>
      </p:sp>
      <p:graphicFrame>
        <p:nvGraphicFramePr>
          <p:cNvPr id="4" name="Table 3">
            <a:extLst>
              <a:ext uri="{FF2B5EF4-FFF2-40B4-BE49-F238E27FC236}">
                <a16:creationId xmlns:a16="http://schemas.microsoft.com/office/drawing/2014/main" id="{1D9C084F-DCE0-38AE-F155-9E1E0EED31B1}"/>
              </a:ext>
            </a:extLst>
          </p:cNvPr>
          <p:cNvGraphicFramePr>
            <a:graphicFrameLocks noGrp="1"/>
          </p:cNvGraphicFramePr>
          <p:nvPr>
            <p:extLst>
              <p:ext uri="{D42A27DB-BD31-4B8C-83A1-F6EECF244321}">
                <p14:modId xmlns:p14="http://schemas.microsoft.com/office/powerpoint/2010/main" val="2883370150"/>
              </p:ext>
            </p:extLst>
          </p:nvPr>
        </p:nvGraphicFramePr>
        <p:xfrm>
          <a:off x="388256" y="1327953"/>
          <a:ext cx="11397344" cy="2910216"/>
        </p:xfrm>
        <a:graphic>
          <a:graphicData uri="http://schemas.openxmlformats.org/drawingml/2006/table">
            <a:tbl>
              <a:tblPr>
                <a:tableStyleId>{5C22544A-7EE6-4342-B048-85BDC9FD1C3A}</a:tableStyleId>
              </a:tblPr>
              <a:tblGrid>
                <a:gridCol w="5698672">
                  <a:extLst>
                    <a:ext uri="{9D8B030D-6E8A-4147-A177-3AD203B41FA5}">
                      <a16:colId xmlns:a16="http://schemas.microsoft.com/office/drawing/2014/main" val="2847025664"/>
                    </a:ext>
                  </a:extLst>
                </a:gridCol>
                <a:gridCol w="5698672">
                  <a:extLst>
                    <a:ext uri="{9D8B030D-6E8A-4147-A177-3AD203B41FA5}">
                      <a16:colId xmlns:a16="http://schemas.microsoft.com/office/drawing/2014/main" val="3998857663"/>
                    </a:ext>
                  </a:extLst>
                </a:gridCol>
              </a:tblGrid>
              <a:tr h="485036">
                <a:tc>
                  <a:txBody>
                    <a:bodyPr/>
                    <a:lstStyle/>
                    <a:p>
                      <a:pPr>
                        <a:buNone/>
                      </a:pPr>
                      <a:r>
                        <a:rPr lang="en-US" dirty="0"/>
                        <a:t>Gate</a:t>
                      </a:r>
                    </a:p>
                  </a:txBody>
                  <a:tcPr anchor="ctr"/>
                </a:tc>
                <a:tc>
                  <a:txBody>
                    <a:bodyPr/>
                    <a:lstStyle/>
                    <a:p>
                      <a:pPr>
                        <a:buNone/>
                      </a:pPr>
                      <a:r>
                        <a:rPr lang="en-US"/>
                        <a:t>Target</a:t>
                      </a:r>
                    </a:p>
                  </a:txBody>
                  <a:tcPr anchor="ctr"/>
                </a:tc>
                <a:extLst>
                  <a:ext uri="{0D108BD9-81ED-4DB2-BD59-A6C34878D82A}">
                    <a16:rowId xmlns:a16="http://schemas.microsoft.com/office/drawing/2014/main" val="2109612577"/>
                  </a:ext>
                </a:extLst>
              </a:tr>
              <a:tr h="485036">
                <a:tc>
                  <a:txBody>
                    <a:bodyPr/>
                    <a:lstStyle/>
                    <a:p>
                      <a:pPr>
                        <a:buNone/>
                      </a:pPr>
                      <a:r>
                        <a:rPr lang="en-US"/>
                        <a:t>G2: Early retrieval</a:t>
                      </a:r>
                    </a:p>
                  </a:txBody>
                  <a:tcPr anchor="ctr"/>
                </a:tc>
                <a:tc>
                  <a:txBody>
                    <a:bodyPr/>
                    <a:lstStyle/>
                    <a:p>
                      <a:pPr>
                        <a:buNone/>
                      </a:pPr>
                      <a:r>
                        <a:rPr lang="en-US"/>
                        <a:t>≥ 80% early retrieval, ≤ 10% false triggers</a:t>
                      </a:r>
                    </a:p>
                  </a:txBody>
                  <a:tcPr anchor="ctr"/>
                </a:tc>
                <a:extLst>
                  <a:ext uri="{0D108BD9-81ED-4DB2-BD59-A6C34878D82A}">
                    <a16:rowId xmlns:a16="http://schemas.microsoft.com/office/drawing/2014/main" val="4225253917"/>
                  </a:ext>
                </a:extLst>
              </a:tr>
              <a:tr h="485036">
                <a:tc>
                  <a:txBody>
                    <a:bodyPr/>
                    <a:lstStyle/>
                    <a:p>
                      <a:pPr>
                        <a:buNone/>
                      </a:pPr>
                      <a:r>
                        <a:rPr lang="en-US" dirty="0"/>
                        <a:t>G3: Decomposition</a:t>
                      </a:r>
                    </a:p>
                  </a:txBody>
                  <a:tcPr anchor="ctr"/>
                </a:tc>
                <a:tc>
                  <a:txBody>
                    <a:bodyPr/>
                    <a:lstStyle/>
                    <a:p>
                      <a:pPr>
                        <a:buNone/>
                      </a:pPr>
                      <a:r>
                        <a:rPr lang="en-US"/>
                        <a:t>≥ 70% of compound cases yield multiple subqueries</a:t>
                      </a:r>
                    </a:p>
                  </a:txBody>
                  <a:tcPr anchor="ctr"/>
                </a:tc>
                <a:extLst>
                  <a:ext uri="{0D108BD9-81ED-4DB2-BD59-A6C34878D82A}">
                    <a16:rowId xmlns:a16="http://schemas.microsoft.com/office/drawing/2014/main" val="3389216869"/>
                  </a:ext>
                </a:extLst>
              </a:tr>
              <a:tr h="485036">
                <a:tc>
                  <a:txBody>
                    <a:bodyPr/>
                    <a:lstStyle/>
                    <a:p>
                      <a:pPr>
                        <a:buNone/>
                      </a:pPr>
                      <a:r>
                        <a:rPr lang="en-US"/>
                        <a:t>G4: Citations</a:t>
                      </a:r>
                    </a:p>
                  </a:txBody>
                  <a:tcPr anchor="ctr"/>
                </a:tc>
                <a:tc>
                  <a:txBody>
                    <a:bodyPr/>
                    <a:lstStyle/>
                    <a:p>
                      <a:pPr>
                        <a:buNone/>
                      </a:pPr>
                      <a:r>
                        <a:rPr lang="en-US"/>
                        <a:t>≥ 85% supported, 0 unsupported assertions, 0 fabricated IDs</a:t>
                      </a:r>
                    </a:p>
                  </a:txBody>
                  <a:tcPr anchor="ctr"/>
                </a:tc>
                <a:extLst>
                  <a:ext uri="{0D108BD9-81ED-4DB2-BD59-A6C34878D82A}">
                    <a16:rowId xmlns:a16="http://schemas.microsoft.com/office/drawing/2014/main" val="73147628"/>
                  </a:ext>
                </a:extLst>
              </a:tr>
              <a:tr h="485036">
                <a:tc>
                  <a:txBody>
                    <a:bodyPr/>
                    <a:lstStyle/>
                    <a:p>
                      <a:pPr>
                        <a:buNone/>
                      </a:pPr>
                      <a:r>
                        <a:rPr lang="en-US"/>
                        <a:t>G5: Refinement and presentation</a:t>
                      </a:r>
                    </a:p>
                  </a:txBody>
                  <a:tcPr anchor="ctr"/>
                </a:tc>
                <a:tc>
                  <a:txBody>
                    <a:bodyPr/>
                    <a:lstStyle/>
                    <a:p>
                      <a:pPr>
                        <a:buNone/>
                      </a:pPr>
                      <a:r>
                        <a:rPr lang="en-US" dirty="0"/>
                        <a:t>≥ 80% pass rate</a:t>
                      </a:r>
                    </a:p>
                  </a:txBody>
                  <a:tcPr anchor="ctr"/>
                </a:tc>
                <a:extLst>
                  <a:ext uri="{0D108BD9-81ED-4DB2-BD59-A6C34878D82A}">
                    <a16:rowId xmlns:a16="http://schemas.microsoft.com/office/drawing/2014/main" val="3274005538"/>
                  </a:ext>
                </a:extLst>
              </a:tr>
              <a:tr h="485036">
                <a:tc>
                  <a:txBody>
                    <a:bodyPr/>
                    <a:lstStyle/>
                    <a:p>
                      <a:pPr>
                        <a:buNone/>
                      </a:pPr>
                      <a:r>
                        <a:rPr lang="en-US"/>
                        <a:t>G6: Traces and cost</a:t>
                      </a:r>
                    </a:p>
                  </a:txBody>
                  <a:tcPr anchor="ctr"/>
                </a:tc>
                <a:tc>
                  <a:txBody>
                    <a:bodyPr/>
                    <a:lstStyle/>
                    <a:p>
                      <a:pPr>
                        <a:buNone/>
                      </a:pPr>
                      <a:r>
                        <a:rPr lang="en-US" dirty="0"/>
                        <a:t>100% complete traces, no unknown costs</a:t>
                      </a:r>
                    </a:p>
                  </a:txBody>
                  <a:tcPr anchor="ctr"/>
                </a:tc>
                <a:extLst>
                  <a:ext uri="{0D108BD9-81ED-4DB2-BD59-A6C34878D82A}">
                    <a16:rowId xmlns:a16="http://schemas.microsoft.com/office/drawing/2014/main" val="748854369"/>
                  </a:ext>
                </a:extLst>
              </a:tr>
            </a:tbl>
          </a:graphicData>
        </a:graphic>
      </p:graphicFrame>
      <p:sp>
        <p:nvSpPr>
          <p:cNvPr id="6" name="TextBox 5">
            <a:extLst>
              <a:ext uri="{FF2B5EF4-FFF2-40B4-BE49-F238E27FC236}">
                <a16:creationId xmlns:a16="http://schemas.microsoft.com/office/drawing/2014/main" id="{2F67A55F-1E12-9CD2-A1D4-BBEBB78DA264}"/>
              </a:ext>
            </a:extLst>
          </p:cNvPr>
          <p:cNvSpPr txBox="1"/>
          <p:nvPr/>
        </p:nvSpPr>
        <p:spPr>
          <a:xfrm>
            <a:off x="388255" y="4707023"/>
            <a:ext cx="10047515" cy="523220"/>
          </a:xfrm>
          <a:prstGeom prst="rect">
            <a:avLst/>
          </a:prstGeom>
          <a:noFill/>
        </p:spPr>
        <p:txBody>
          <a:bodyPr wrap="square">
            <a:spAutoFit/>
          </a:bodyPr>
          <a:lstStyle/>
          <a:p>
            <a:pPr marL="342900" lvl="0" indent="-342900" rtl="0">
              <a:buFont typeface="Arial" panose="020B0604020202020204" pitchFamily="34" charset="0"/>
              <a:buChar char="•"/>
            </a:pPr>
            <a:r>
              <a:rPr lang="en-US" dirty="0"/>
              <a:t>72 live evaluation cases, with offline tests covering controller, retrieval, grounding, REST/WebSocket, and telemetry.</a:t>
            </a:r>
          </a:p>
          <a:p>
            <a:pPr marL="342900" lvl="0" indent="-342900" rtl="0">
              <a:buFont typeface="Arial" panose="020B0604020202020204" pitchFamily="34" charset="0"/>
              <a:buChar char="•"/>
            </a:pPr>
            <a:r>
              <a:rPr lang="en-US" dirty="0"/>
              <a:t>A paired REST vs WebSocket baseline measures time to first retrieval and final latency.</a:t>
            </a:r>
          </a:p>
        </p:txBody>
      </p:sp>
    </p:spTree>
    <p:extLst>
      <p:ext uri="{BB962C8B-B14F-4D97-AF65-F5344CB8AC3E}">
        <p14:creationId xmlns:p14="http://schemas.microsoft.com/office/powerpoint/2010/main" val="308311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92FB1-A795-9FA8-5423-E45B99B7A5E8}"/>
              </a:ext>
            </a:extLst>
          </p:cNvPr>
          <p:cNvSpPr>
            <a:spLocks noGrp="1"/>
          </p:cNvSpPr>
          <p:nvPr>
            <p:ph type="title"/>
          </p:nvPr>
        </p:nvSpPr>
        <p:spPr/>
        <p:txBody>
          <a:bodyPr/>
          <a:lstStyle/>
          <a:p>
            <a:r>
              <a:rPr lang="en-US" b="1" dirty="0">
                <a:solidFill>
                  <a:srgbClr val="704EA6"/>
                </a:solidFill>
              </a:rPr>
              <a:t>limitations</a:t>
            </a:r>
            <a:endParaRPr lang="en-US" dirty="0"/>
          </a:p>
        </p:txBody>
      </p:sp>
      <p:sp>
        <p:nvSpPr>
          <p:cNvPr id="3" name="Text Placeholder 2">
            <a:extLst>
              <a:ext uri="{FF2B5EF4-FFF2-40B4-BE49-F238E27FC236}">
                <a16:creationId xmlns:a16="http://schemas.microsoft.com/office/drawing/2014/main" id="{5749DE7B-9B79-2219-00A5-F8331D62A49D}"/>
              </a:ext>
            </a:extLst>
          </p:cNvPr>
          <p:cNvSpPr>
            <a:spLocks noGrp="1"/>
          </p:cNvSpPr>
          <p:nvPr>
            <p:ph type="body" idx="1"/>
          </p:nvPr>
        </p:nvSpPr>
        <p:spPr>
          <a:xfrm>
            <a:off x="185057" y="1520825"/>
            <a:ext cx="10515600" cy="4351338"/>
          </a:xfrm>
        </p:spPr>
        <p:txBody>
          <a:bodyPr>
            <a:normAutofit fontScale="85000" lnSpcReduction="20000"/>
          </a:bodyPr>
          <a:lstStyle/>
          <a:p>
            <a:pPr lvl="0"/>
            <a:r>
              <a:rPr lang="en-US" b="1" dirty="0"/>
              <a:t>Sessions are in-memory.</a:t>
            </a:r>
            <a:r>
              <a:rPr lang="en-US" dirty="0"/>
              <a:t> They are lost on restart and not shared across workers.</a:t>
            </a:r>
          </a:p>
          <a:p>
            <a:pPr lvl="0"/>
            <a:r>
              <a:rPr lang="en-US" b="1" dirty="0"/>
              <a:t>No built-in auth, session expiry, or multi-tenant isolation.</a:t>
            </a:r>
            <a:r>
              <a:rPr lang="en-US" dirty="0"/>
              <a:t> Production use needs a gateway and a shared session store.</a:t>
            </a:r>
          </a:p>
          <a:p>
            <a:pPr lvl="0"/>
            <a:r>
              <a:rPr lang="en-US" b="1" dirty="0"/>
              <a:t>Strict exact-quote checks.</a:t>
            </a:r>
            <a:r>
              <a:rPr lang="en-US" dirty="0"/>
              <a:t> They favor precision and may reject valid paraphrases, and they do not prove semantic entailment.</a:t>
            </a:r>
          </a:p>
          <a:p>
            <a:pPr lvl="0"/>
            <a:r>
              <a:rPr lang="en-US" b="1" dirty="0"/>
              <a:t>Narrow corpus.</a:t>
            </a:r>
            <a:r>
              <a:rPr lang="en-US" dirty="0"/>
              <a:t> 19 records across 15 documents on workshop planning, so results don't generalize to other domains.</a:t>
            </a:r>
          </a:p>
          <a:p>
            <a:pPr lvl="0"/>
            <a:r>
              <a:rPr lang="en-US" b="1" dirty="0"/>
              <a:t>Provider dependence.</a:t>
            </a:r>
            <a:r>
              <a:rPr lang="en-US" dirty="0"/>
              <a:t> </a:t>
            </a:r>
            <a:r>
              <a:rPr lang="en-US" dirty="0" err="1"/>
              <a:t>Groq</a:t>
            </a:r>
            <a:r>
              <a:rPr lang="en-US" dirty="0"/>
              <a:t> quotas (HTTP 429) can leave traces incomplete, and live gates can't verify G1 (clean Docker build) on their own.</a:t>
            </a:r>
          </a:p>
          <a:p>
            <a:pPr lvl="0"/>
            <a:r>
              <a:rPr lang="en-US" b="1" dirty="0"/>
              <a:t>Small-sample evidence.</a:t>
            </a:r>
            <a:r>
              <a:rPr lang="en-US" dirty="0"/>
              <a:t> Ablation results are historical, and small baseline samples don't establish production performance.</a:t>
            </a:r>
          </a:p>
          <a:p>
            <a:pPr marL="114300" indent="0">
              <a:buNone/>
            </a:pPr>
            <a:endParaRPr lang="en-US" dirty="0"/>
          </a:p>
        </p:txBody>
      </p:sp>
    </p:spTree>
    <p:extLst>
      <p:ext uri="{BB962C8B-B14F-4D97-AF65-F5344CB8AC3E}">
        <p14:creationId xmlns:p14="http://schemas.microsoft.com/office/powerpoint/2010/main" val="692460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dirty="0">
                <a:solidFill>
                  <a:srgbClr val="704EA6"/>
                </a:solidFill>
                <a:latin typeface="Calibri"/>
                <a:ea typeface="Calibri"/>
                <a:cs typeface="Calibri"/>
                <a:sym typeface="Calibri"/>
              </a:rPr>
              <a:t>What’s next</a:t>
            </a:r>
            <a:endParaRPr sz="4400" b="1" dirty="0">
              <a:solidFill>
                <a:srgbClr val="704EA6"/>
              </a:solidFill>
            </a:endParaRPr>
          </a:p>
        </p:txBody>
      </p:sp>
      <p:sp>
        <p:nvSpPr>
          <p:cNvPr id="144" name="Google Shape;144;p9"/>
          <p:cNvSpPr txBox="1">
            <a:spLocks noGrp="1"/>
          </p:cNvSpPr>
          <p:nvPr>
            <p:ph type="body" idx="1"/>
          </p:nvPr>
        </p:nvSpPr>
        <p:spPr>
          <a:xfrm>
            <a:off x="203200" y="1080747"/>
            <a:ext cx="11150600" cy="4696506"/>
          </a:xfrm>
          <a:prstGeom prst="rect">
            <a:avLst/>
          </a:prstGeom>
          <a:noFill/>
          <a:ln>
            <a:noFill/>
          </a:ln>
        </p:spPr>
        <p:txBody>
          <a:bodyPr spcFirstLastPara="1" wrap="square" lIns="91425" tIns="45700" rIns="91425" bIns="45700" anchor="t" anchorCtr="0">
            <a:noAutofit/>
          </a:bodyPr>
          <a:lstStyle/>
          <a:p>
            <a:pPr marL="114300" indent="0">
              <a:buNone/>
            </a:pPr>
            <a:r>
              <a:rPr lang="en-US" sz="1800" b="1" dirty="0"/>
              <a:t>Near term: harden for production</a:t>
            </a:r>
          </a:p>
          <a:p>
            <a:pPr lvl="0"/>
            <a:r>
              <a:rPr lang="en-US" sz="1800" b="1" dirty="0"/>
              <a:t>Shared session store</a:t>
            </a:r>
            <a:r>
              <a:rPr lang="en-US" sz="1800" dirty="0"/>
              <a:t> (e.g., Redis) with an expiration policy, so answers survive restarts and work across workers and replicas.</a:t>
            </a:r>
          </a:p>
          <a:p>
            <a:pPr lvl="0"/>
            <a:r>
              <a:rPr lang="en-US" sz="1800" b="1" dirty="0"/>
              <a:t>Authentication and authorization</a:t>
            </a:r>
            <a:r>
              <a:rPr lang="en-US" sz="1800" dirty="0"/>
              <a:t> through a gateway, plus multi-tenant isolation.</a:t>
            </a:r>
          </a:p>
          <a:p>
            <a:pPr lvl="0"/>
            <a:r>
              <a:rPr lang="en-US" sz="1800" b="1" dirty="0"/>
              <a:t>Telemetry retention policy</a:t>
            </a:r>
            <a:r>
              <a:rPr lang="en-US" sz="1800" dirty="0"/>
              <a:t> and protected log storage, since logs contain user queries.</a:t>
            </a:r>
          </a:p>
          <a:p>
            <a:pPr marL="114300" indent="0">
              <a:buNone/>
            </a:pPr>
            <a:r>
              <a:rPr lang="en-US" sz="1800" b="1" dirty="0"/>
              <a:t>Mid term: improve answer quality</a:t>
            </a:r>
          </a:p>
          <a:p>
            <a:pPr lvl="0"/>
            <a:r>
              <a:rPr lang="en-US" sz="1800" b="1" dirty="0"/>
              <a:t>Semantic entailment checks</a:t>
            </a:r>
            <a:r>
              <a:rPr lang="en-US" sz="1800" dirty="0"/>
              <a:t> alongside exact-quote validation, so valid paraphrases are no longer rejected.</a:t>
            </a:r>
          </a:p>
          <a:p>
            <a:pPr lvl="0"/>
            <a:r>
              <a:rPr lang="en-US" sz="1800" b="1" dirty="0"/>
              <a:t>Publish live gate results</a:t>
            </a:r>
            <a:r>
              <a:rPr lang="en-US" sz="1800" dirty="0"/>
              <a:t> (G1-G6) and the REST vs WebSocket latency baseline with the backend, model, and run date recorded.</a:t>
            </a:r>
          </a:p>
          <a:p>
            <a:pPr lvl="0"/>
            <a:r>
              <a:rPr lang="en-US" sz="1800" b="1" dirty="0"/>
              <a:t>Current ablation benchmarks</a:t>
            </a:r>
            <a:r>
              <a:rPr lang="en-US" sz="1800" dirty="0"/>
              <a:t> for hybrid vs dense-only retrieval and rule-based vs model-based control, replacing the historical numbers.</a:t>
            </a:r>
          </a:p>
          <a:p>
            <a:pPr marL="114300" indent="0">
              <a:buNone/>
            </a:pPr>
            <a:r>
              <a:rPr lang="en-US" sz="1800" b="1" dirty="0"/>
              <a:t>Longer term: broaden scope</a:t>
            </a:r>
          </a:p>
          <a:p>
            <a:pPr lvl="0"/>
            <a:r>
              <a:rPr lang="en-US" sz="1800" b="1" dirty="0"/>
              <a:t>Larger, multi-domain corpus</a:t>
            </a:r>
            <a:r>
              <a:rPr lang="en-US" sz="1800" dirty="0"/>
              <a:t> with evaluation fixtures beyond workshop planning, so results can generalize.</a:t>
            </a:r>
          </a:p>
          <a:p>
            <a:pPr lvl="0"/>
            <a:r>
              <a:rPr lang="en-US" sz="1800" b="1" dirty="0"/>
              <a:t>Real speech input.</a:t>
            </a:r>
            <a:r>
              <a:rPr lang="en-US" sz="1800" dirty="0"/>
              <a:t> Connect a speech-to-text front end to the WebSocket stream for true live voice use.</a:t>
            </a:r>
          </a:p>
          <a:p>
            <a:pPr lvl="0"/>
            <a:r>
              <a:rPr lang="en-US" sz="1800" b="1" dirty="0"/>
              <a:t>Quota-resilient inference</a:t>
            </a:r>
            <a:r>
              <a:rPr lang="en-US" sz="1800" dirty="0"/>
              <a:t> with fallback between </a:t>
            </a:r>
            <a:r>
              <a:rPr lang="en-US" sz="1800" dirty="0" err="1"/>
              <a:t>Ollama</a:t>
            </a:r>
            <a:r>
              <a:rPr lang="en-US" sz="1800" dirty="0"/>
              <a:t> and </a:t>
            </a:r>
            <a:r>
              <a:rPr lang="en-US" sz="1800" dirty="0" err="1"/>
              <a:t>Groq</a:t>
            </a:r>
            <a:r>
              <a:rPr lang="en-US" sz="1800" dirty="0"/>
              <a:t>, so provider limits don't leave traces incomplete.</a:t>
            </a:r>
          </a:p>
          <a:p>
            <a:pPr lvl="0"/>
            <a:r>
              <a:rPr lang="en-US" sz="1800" b="1" dirty="0"/>
              <a:t>Recorded demo and dashboards</a:t>
            </a:r>
            <a:r>
              <a:rPr lang="en-US" sz="1800" dirty="0"/>
              <a:t> built on the existing telemetry (cost, latency, citation support).</a:t>
            </a:r>
          </a:p>
          <a:p>
            <a:pPr marL="228600" lvl="0" indent="-50800" algn="l" rtl="0">
              <a:lnSpc>
                <a:spcPct val="90000"/>
              </a:lnSpc>
              <a:spcBef>
                <a:spcPts val="0"/>
              </a:spcBef>
              <a:spcAft>
                <a:spcPts val="0"/>
              </a:spcAft>
              <a:buClr>
                <a:schemeClr val="dk1"/>
              </a:buClr>
              <a:buSzPts val="2800"/>
              <a:buNone/>
            </a:pPr>
            <a:endParaRPr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dirty="0">
                <a:solidFill>
                  <a:srgbClr val="704EA6"/>
                </a:solidFill>
                <a:latin typeface="Calibri"/>
                <a:ea typeface="Calibri"/>
                <a:cs typeface="Calibri"/>
                <a:sym typeface="Calibri"/>
              </a:rPr>
              <a:t>Brownie points slide( differentiation)</a:t>
            </a:r>
            <a:endParaRPr sz="4400" b="1" dirty="0">
              <a:solidFill>
                <a:srgbClr val="704EA6"/>
              </a:solidFill>
            </a:endParaRPr>
          </a:p>
        </p:txBody>
      </p:sp>
      <p:graphicFrame>
        <p:nvGraphicFramePr>
          <p:cNvPr id="2" name="Table 1">
            <a:extLst>
              <a:ext uri="{FF2B5EF4-FFF2-40B4-BE49-F238E27FC236}">
                <a16:creationId xmlns:a16="http://schemas.microsoft.com/office/drawing/2014/main" id="{7A910E60-D251-4B41-E90A-D8E5B5330D4A}"/>
              </a:ext>
            </a:extLst>
          </p:cNvPr>
          <p:cNvGraphicFramePr>
            <a:graphicFrameLocks noGrp="1"/>
          </p:cNvGraphicFramePr>
          <p:nvPr>
            <p:extLst>
              <p:ext uri="{D42A27DB-BD31-4B8C-83A1-F6EECF244321}">
                <p14:modId xmlns:p14="http://schemas.microsoft.com/office/powerpoint/2010/main" val="372925583"/>
              </p:ext>
            </p:extLst>
          </p:nvPr>
        </p:nvGraphicFramePr>
        <p:xfrm>
          <a:off x="605971" y="1690688"/>
          <a:ext cx="10515600" cy="371856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141298561"/>
                    </a:ext>
                  </a:extLst>
                </a:gridCol>
                <a:gridCol w="5257800">
                  <a:extLst>
                    <a:ext uri="{9D8B030D-6E8A-4147-A177-3AD203B41FA5}">
                      <a16:colId xmlns:a16="http://schemas.microsoft.com/office/drawing/2014/main" val="2054930578"/>
                    </a:ext>
                  </a:extLst>
                </a:gridCol>
              </a:tblGrid>
              <a:tr h="0">
                <a:tc>
                  <a:txBody>
                    <a:bodyPr/>
                    <a:lstStyle/>
                    <a:p>
                      <a:pPr>
                        <a:buNone/>
                      </a:pPr>
                      <a:r>
                        <a:rPr lang="en-US"/>
                        <a:t>Typical RAG demo</a:t>
                      </a:r>
                    </a:p>
                  </a:txBody>
                  <a:tcPr anchor="ctr"/>
                </a:tc>
                <a:tc>
                  <a:txBody>
                    <a:bodyPr/>
                    <a:lstStyle/>
                    <a:p>
                      <a:pPr>
                        <a:buNone/>
                      </a:pPr>
                      <a:r>
                        <a:rPr lang="en-US"/>
                        <a:t>Streaming Live RAG</a:t>
                      </a:r>
                    </a:p>
                  </a:txBody>
                  <a:tcPr anchor="ctr"/>
                </a:tc>
                <a:extLst>
                  <a:ext uri="{0D108BD9-81ED-4DB2-BD59-A6C34878D82A}">
                    <a16:rowId xmlns:a16="http://schemas.microsoft.com/office/drawing/2014/main" val="3830166421"/>
                  </a:ext>
                </a:extLst>
              </a:tr>
              <a:tr h="0">
                <a:tc>
                  <a:txBody>
                    <a:bodyPr/>
                    <a:lstStyle/>
                    <a:p>
                      <a:pPr>
                        <a:buNone/>
                      </a:pPr>
                      <a:r>
                        <a:rPr lang="en-US"/>
                        <a:t>Waits for the full question, then searches</a:t>
                      </a:r>
                    </a:p>
                  </a:txBody>
                  <a:tcPr anchor="ctr"/>
                </a:tc>
                <a:tc>
                  <a:txBody>
                    <a:bodyPr/>
                    <a:lstStyle/>
                    <a:p>
                      <a:pPr>
                        <a:buNone/>
                      </a:pPr>
                      <a:r>
                        <a:rPr lang="en-US"/>
                        <a:t>Starts retrieval mid-utterance via a WAIT / RETRIEVE / NO_RETRIEVAL controller</a:t>
                      </a:r>
                    </a:p>
                  </a:txBody>
                  <a:tcPr anchor="ctr"/>
                </a:tc>
                <a:extLst>
                  <a:ext uri="{0D108BD9-81ED-4DB2-BD59-A6C34878D82A}">
                    <a16:rowId xmlns:a16="http://schemas.microsoft.com/office/drawing/2014/main" val="2003101485"/>
                  </a:ext>
                </a:extLst>
              </a:tr>
              <a:tr h="0">
                <a:tc>
                  <a:txBody>
                    <a:bodyPr/>
                    <a:lstStyle/>
                    <a:p>
                      <a:pPr>
                        <a:buNone/>
                      </a:pPr>
                      <a:r>
                        <a:rPr lang="en-US"/>
                        <a:t>One query, one search</a:t>
                      </a:r>
                    </a:p>
                  </a:txBody>
                  <a:tcPr anchor="ctr"/>
                </a:tc>
                <a:tc>
                  <a:txBody>
                    <a:bodyPr/>
                    <a:lstStyle/>
                    <a:p>
                      <a:pPr>
                        <a:buNone/>
                      </a:pPr>
                      <a:r>
                        <a:rPr lang="en-US"/>
                        <a:t>Up to 4 subqueries from compound requests, retrieved in parallel</a:t>
                      </a:r>
                    </a:p>
                  </a:txBody>
                  <a:tcPr anchor="ctr"/>
                </a:tc>
                <a:extLst>
                  <a:ext uri="{0D108BD9-81ED-4DB2-BD59-A6C34878D82A}">
                    <a16:rowId xmlns:a16="http://schemas.microsoft.com/office/drawing/2014/main" val="1205468766"/>
                  </a:ext>
                </a:extLst>
              </a:tr>
              <a:tr h="0">
                <a:tc>
                  <a:txBody>
                    <a:bodyPr/>
                    <a:lstStyle/>
                    <a:p>
                      <a:pPr>
                        <a:buNone/>
                      </a:pPr>
                      <a:r>
                        <a:rPr lang="en-US"/>
                        <a:t>Follow-ups re-run the whole pipeline</a:t>
                      </a:r>
                    </a:p>
                  </a:txBody>
                  <a:tcPr anchor="ctr"/>
                </a:tc>
                <a:tc>
                  <a:txBody>
                    <a:bodyPr/>
                    <a:lstStyle/>
                    <a:p>
                      <a:pPr>
                        <a:buNone/>
                      </a:pPr>
                      <a:r>
                        <a:rPr lang="en-US"/>
                        <a:t>Late details refine the existing answer; "shorten that" skips retrieval entirely</a:t>
                      </a:r>
                    </a:p>
                  </a:txBody>
                  <a:tcPr anchor="ctr"/>
                </a:tc>
                <a:extLst>
                  <a:ext uri="{0D108BD9-81ED-4DB2-BD59-A6C34878D82A}">
                    <a16:rowId xmlns:a16="http://schemas.microsoft.com/office/drawing/2014/main" val="2852863239"/>
                  </a:ext>
                </a:extLst>
              </a:tr>
              <a:tr h="0">
                <a:tc>
                  <a:txBody>
                    <a:bodyPr/>
                    <a:lstStyle/>
                    <a:p>
                      <a:pPr>
                        <a:buNone/>
                      </a:pPr>
                      <a:r>
                        <a:rPr lang="en-US"/>
                        <a:t>Fluent answers, hard to verify</a:t>
                      </a:r>
                    </a:p>
                  </a:txBody>
                  <a:tcPr anchor="ctr"/>
                </a:tc>
                <a:tc>
                  <a:txBody>
                    <a:bodyPr/>
                    <a:lstStyle/>
                    <a:p>
                      <a:pPr>
                        <a:buNone/>
                      </a:pPr>
                      <a:r>
                        <a:rPr lang="en-US"/>
                        <a:t>Exact-excerpt citations [Doc_ID §Section]; unsupported claims removed</a:t>
                      </a:r>
                    </a:p>
                  </a:txBody>
                  <a:tcPr anchor="ctr"/>
                </a:tc>
                <a:extLst>
                  <a:ext uri="{0D108BD9-81ED-4DB2-BD59-A6C34878D82A}">
                    <a16:rowId xmlns:a16="http://schemas.microsoft.com/office/drawing/2014/main" val="1357939798"/>
                  </a:ext>
                </a:extLst>
              </a:tr>
              <a:tr h="0">
                <a:tc>
                  <a:txBody>
                    <a:bodyPr/>
                    <a:lstStyle/>
                    <a:p>
                      <a:pPr>
                        <a:buNone/>
                      </a:pPr>
                      <a:r>
                        <a:rPr lang="en-US"/>
                        <a:t>Guesses when evidence is thin</a:t>
                      </a:r>
                    </a:p>
                  </a:txBody>
                  <a:tcPr anchor="ctr"/>
                </a:tc>
                <a:tc>
                  <a:txBody>
                    <a:bodyPr/>
                    <a:lstStyle/>
                    <a:p>
                      <a:pPr>
                        <a:buNone/>
                      </a:pPr>
                      <a:r>
                        <a:rPr lang="en-US"/>
                        <a:t>Says "uncertain" instead of falling back on model knowledge</a:t>
                      </a:r>
                    </a:p>
                  </a:txBody>
                  <a:tcPr anchor="ctr"/>
                </a:tc>
                <a:extLst>
                  <a:ext uri="{0D108BD9-81ED-4DB2-BD59-A6C34878D82A}">
                    <a16:rowId xmlns:a16="http://schemas.microsoft.com/office/drawing/2014/main" val="24597879"/>
                  </a:ext>
                </a:extLst>
              </a:tr>
              <a:tr h="0">
                <a:tc>
                  <a:txBody>
                    <a:bodyPr/>
                    <a:lstStyle/>
                    <a:p>
                      <a:pPr>
                        <a:buNone/>
                      </a:pPr>
                      <a:r>
                        <a:rPr lang="en-US"/>
                        <a:t>Black box</a:t>
                      </a:r>
                    </a:p>
                  </a:txBody>
                  <a:tcPr anchor="ctr"/>
                </a:tc>
                <a:tc>
                  <a:txBody>
                    <a:bodyPr/>
                    <a:lstStyle/>
                    <a:p>
                      <a:pPr>
                        <a:buNone/>
                      </a:pPr>
                      <a:r>
                        <a:rPr lang="en-US"/>
                        <a:t>Trace IDs, token usage, cost estimates, answer lineage per request</a:t>
                      </a:r>
                    </a:p>
                  </a:txBody>
                  <a:tcPr anchor="ctr"/>
                </a:tc>
                <a:extLst>
                  <a:ext uri="{0D108BD9-81ED-4DB2-BD59-A6C34878D82A}">
                    <a16:rowId xmlns:a16="http://schemas.microsoft.com/office/drawing/2014/main" val="877312508"/>
                  </a:ext>
                </a:extLst>
              </a:tr>
              <a:tr h="0">
                <a:tc>
                  <a:txBody>
                    <a:bodyPr/>
                    <a:lstStyle/>
                    <a:p>
                      <a:pPr>
                        <a:buNone/>
                      </a:pPr>
                      <a:r>
                        <a:rPr lang="en-US"/>
                        <a:t>Cloud-only or local-only</a:t>
                      </a:r>
                    </a:p>
                  </a:txBody>
                  <a:tcPr anchor="ctr"/>
                </a:tc>
                <a:tc>
                  <a:txBody>
                    <a:bodyPr/>
                    <a:lstStyle/>
                    <a:p>
                      <a:pPr>
                        <a:buNone/>
                      </a:pPr>
                      <a:r>
                        <a:rPr lang="en-US" dirty="0"/>
                        <a:t>Switchable backend: </a:t>
                      </a:r>
                      <a:r>
                        <a:rPr lang="en-US" dirty="0" err="1"/>
                        <a:t>Ollama</a:t>
                      </a:r>
                      <a:r>
                        <a:rPr lang="en-US" dirty="0"/>
                        <a:t> (local, zero provider cost) or </a:t>
                      </a:r>
                      <a:r>
                        <a:rPr lang="en-US" dirty="0" err="1"/>
                        <a:t>Groq</a:t>
                      </a:r>
                      <a:r>
                        <a:rPr lang="en-US" dirty="0"/>
                        <a:t> (cloud)</a:t>
                      </a:r>
                    </a:p>
                  </a:txBody>
                  <a:tcPr anchor="ctr"/>
                </a:tc>
                <a:extLst>
                  <a:ext uri="{0D108BD9-81ED-4DB2-BD59-A6C34878D82A}">
                    <a16:rowId xmlns:a16="http://schemas.microsoft.com/office/drawing/2014/main" val="461997940"/>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DA7C4A-E21F-D3A8-70EA-FC310AD38712}"/>
              </a:ext>
            </a:extLst>
          </p:cNvPr>
          <p:cNvSpPr>
            <a:spLocks noGrp="1"/>
          </p:cNvSpPr>
          <p:nvPr>
            <p:ph type="body" idx="1"/>
          </p:nvPr>
        </p:nvSpPr>
        <p:spPr>
          <a:xfrm>
            <a:off x="388258" y="519339"/>
            <a:ext cx="11310256" cy="5533118"/>
          </a:xfrm>
        </p:spPr>
        <p:txBody>
          <a:bodyPr>
            <a:normAutofit/>
          </a:bodyPr>
          <a:lstStyle/>
          <a:p>
            <a:pPr lvl="0"/>
            <a:r>
              <a:rPr lang="en-US" b="1" dirty="0"/>
              <a:t>Evaluation built in:</a:t>
            </a:r>
            <a:r>
              <a:rPr lang="en-US" dirty="0"/>
              <a:t> 6 gates (G1-G6) over 72 live cases, plus offline tests with mocked providers.</a:t>
            </a:r>
          </a:p>
          <a:p>
            <a:pPr lvl="0"/>
            <a:r>
              <a:rPr lang="en-US" b="1" dirty="0"/>
              <a:t>Honest benchmarking:</a:t>
            </a:r>
            <a:r>
              <a:rPr lang="en-US" dirty="0"/>
              <a:t> A paired REST vs WebSocket baseline and component ablations (hybrid vs dense-only, rule-based vs model-based control).</a:t>
            </a:r>
          </a:p>
          <a:p>
            <a:pPr lvl="0"/>
            <a:r>
              <a:rPr lang="en-US" b="1" dirty="0"/>
              <a:t>Privacy-aware design:</a:t>
            </a:r>
            <a:r>
              <a:rPr lang="en-US" dirty="0"/>
              <a:t> Corpus, index, and embeddings stay local; the README spells out what leaves the machine for each backend.</a:t>
            </a:r>
          </a:p>
          <a:p>
            <a:pPr lvl="0"/>
            <a:r>
              <a:rPr lang="en-US" b="1" dirty="0"/>
              <a:t>Production-minded:</a:t>
            </a:r>
            <a:r>
              <a:rPr lang="en-US" dirty="0"/>
              <a:t> Docker Compose, clean-build test replay, and documented limitations rather than hidden ones.</a:t>
            </a:r>
          </a:p>
          <a:p>
            <a:pPr lvl="0"/>
            <a:r>
              <a:rPr lang="en-US" b="1" dirty="0"/>
              <a:t>Transparent about gaps:</a:t>
            </a:r>
            <a:r>
              <a:rPr lang="en-US" dirty="0"/>
              <a:t> Known limitations are stated openly, which builds credibility.</a:t>
            </a:r>
          </a:p>
          <a:p>
            <a:pPr marL="114300" indent="0">
              <a:buNone/>
            </a:pPr>
            <a:endParaRPr lang="en-US" dirty="0"/>
          </a:p>
        </p:txBody>
      </p:sp>
    </p:spTree>
    <p:extLst>
      <p:ext uri="{BB962C8B-B14F-4D97-AF65-F5344CB8AC3E}">
        <p14:creationId xmlns:p14="http://schemas.microsoft.com/office/powerpoint/2010/main" val="517317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Checklist- Updated on Public GitHub</a:t>
            </a:r>
            <a:endParaRPr/>
          </a:p>
        </p:txBody>
      </p:sp>
      <p:sp>
        <p:nvSpPr>
          <p:cNvPr id="156" name="Google Shape;156;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77800" lvl="0" indent="-177800" algn="l" rtl="0">
              <a:lnSpc>
                <a:spcPct val="90000"/>
              </a:lnSpc>
              <a:spcBef>
                <a:spcPts val="0"/>
              </a:spcBef>
              <a:spcAft>
                <a:spcPts val="0"/>
              </a:spcAft>
              <a:buClr>
                <a:srgbClr val="63637E"/>
              </a:buClr>
              <a:buSzPts val="2800"/>
              <a:buChar char="•"/>
            </a:pPr>
            <a:r>
              <a:rPr lang="en-US" sz="2800" dirty="0">
                <a:solidFill>
                  <a:srgbClr val="63637E"/>
                </a:solidFill>
                <a:latin typeface="Calibri"/>
                <a:ea typeface="Calibri"/>
                <a:cs typeface="Calibri"/>
                <a:sym typeface="Calibri"/>
              </a:rPr>
              <a:t>Working prototype code — public or shared GitHub repo (Y/)</a:t>
            </a:r>
            <a:endParaRPr sz="2800"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README with reproducible setup instructions (Y/)</a:t>
            </a:r>
            <a:endParaRPr sz="2800"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Demo video, max 5 minutes (YouTube or Drive link)(Y)</a:t>
            </a:r>
            <a:endParaRPr sz="2800"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Presentation file (PPT or PDF) (Y/)</a:t>
            </a:r>
            <a:endParaRPr sz="2800" dirty="0"/>
          </a:p>
          <a:p>
            <a:pPr marL="0" lvl="0" indent="0" algn="l" rtl="0">
              <a:lnSpc>
                <a:spcPct val="90000"/>
              </a:lnSpc>
              <a:spcBef>
                <a:spcPts val="1500"/>
              </a:spcBef>
              <a:spcAft>
                <a:spcPts val="0"/>
              </a:spcAft>
              <a:buClr>
                <a:schemeClr val="dk1"/>
              </a:buClr>
              <a:buSzPts val="2800"/>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p:nvPr/>
        </p:nvSpPr>
        <p:spPr>
          <a:xfrm>
            <a:off x="1046181" y="3730214"/>
            <a:ext cx="67665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4600"/>
              <a:buFont typeface="Arial"/>
              <a:buNone/>
            </a:pPr>
            <a:r>
              <a:rPr lang="en-US" sz="4600" b="1" i="0" u="none" strike="noStrike" cap="none">
                <a:solidFill>
                  <a:srgbClr val="14142B"/>
                </a:solidFill>
                <a:latin typeface="Arial"/>
                <a:ea typeface="Arial"/>
                <a:cs typeface="Arial"/>
                <a:sym typeface="Arial"/>
              </a:rPr>
              <a:t>Thank you</a:t>
            </a:r>
            <a:endParaRPr sz="4600" b="0" i="0" u="none" strike="noStrike" cap="none">
              <a:solidFill>
                <a:schemeClr val="dk1"/>
              </a:solidFill>
              <a:latin typeface="Calibri"/>
              <a:ea typeface="Calibri"/>
              <a:cs typeface="Calibri"/>
              <a:sym typeface="Calibri"/>
            </a:endParaRPr>
          </a:p>
        </p:txBody>
      </p:sp>
      <p:sp>
        <p:nvSpPr>
          <p:cNvPr id="163" name="Google Shape;163;p12"/>
          <p:cNvSpPr txBox="1"/>
          <p:nvPr/>
        </p:nvSpPr>
        <p:spPr>
          <a:xfrm>
            <a:off x="777240" y="5897880"/>
            <a:ext cx="106070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3637E"/>
              </a:buClr>
              <a:buSzPts val="1100"/>
              <a:buFont typeface="Calibri"/>
              <a:buNone/>
            </a:pPr>
            <a:r>
              <a:rPr lang="en-US" sz="1100" b="0" i="0" u="none" strike="noStrike" cap="none">
                <a:solidFill>
                  <a:srgbClr val="63637E"/>
                </a:solidFill>
                <a:latin typeface="Calibri"/>
                <a:ea typeface="Calibri"/>
                <a:cs typeface="Calibri"/>
                <a:sym typeface="Calibri"/>
              </a:rPr>
              <a:t>Organised by the Language AI Team and the PRISM Team, Samsung R&amp;D Institute India</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2094</Words>
  <Application>Microsoft Office PowerPoint</Application>
  <PresentationFormat>Widescreen</PresentationFormat>
  <Paragraphs>195</Paragraphs>
  <Slides>17</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Theme</vt:lpstr>
      <vt:lpstr>Existing Solutions &amp; Gaps</vt:lpstr>
      <vt:lpstr>Our Solutions &amp; Architecture Diagram</vt:lpstr>
      <vt:lpstr>Architecture Diagram</vt:lpstr>
      <vt:lpstr>Demo &amp; Product Walkthrough</vt:lpstr>
      <vt:lpstr>Tools and tech stack used</vt:lpstr>
      <vt:lpstr>Impact &amp; Use case</vt:lpstr>
      <vt:lpstr>Use case</vt:lpstr>
      <vt:lpstr>Innovation highlights, results and limitations</vt:lpstr>
      <vt:lpstr>results</vt:lpstr>
      <vt:lpstr>limitations</vt:lpstr>
      <vt:lpstr>What’s next</vt:lpstr>
      <vt:lpstr>Brownie points slide( differentiation)</vt:lpstr>
      <vt:lpstr>PowerPoint Presentation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Binny Lakra/PRISM /SRI-Bangalore/Professional/Samsung Electronics</dc:creator>
  <cp:lastModifiedBy>Aniket Bisht</cp:lastModifiedBy>
  <cp:revision>1</cp:revision>
  <dcterms:created xsi:type="dcterms:W3CDTF">2026-09-07T12:01:01Z</dcterms:created>
  <dcterms:modified xsi:type="dcterms:W3CDTF">2026-10-04T19:03:03Z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